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76" r:id="rId9"/>
    <p:sldId id="262" r:id="rId10"/>
    <p:sldId id="263" r:id="rId11"/>
    <p:sldId id="275" r:id="rId12"/>
    <p:sldId id="264" r:id="rId13"/>
    <p:sldId id="277" r:id="rId14"/>
    <p:sldId id="278" r:id="rId15"/>
    <p:sldId id="279" r:id="rId16"/>
    <p:sldId id="265" r:id="rId17"/>
    <p:sldId id="266" r:id="rId18"/>
    <p:sldId id="273" r:id="rId19"/>
    <p:sldId id="274" r:id="rId20"/>
    <p:sldId id="267" r:id="rId21"/>
    <p:sldId id="268" r:id="rId22"/>
    <p:sldId id="269" r:id="rId23"/>
    <p:sldId id="270" r:id="rId24"/>
    <p:sldId id="27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6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425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各位老师好，下面汇报我们的计算机视觉课程项目，题目是基于 Viola-Jones 的实时人脸检测系统。这个项目的核心目标，是从零实现经典人脸检测方法的完整链路，而不是只调用现成接口。后面的汇报会按照背景目标、算法原理、系统实现、实验结果和项目总结五个部分展开。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首先看项目背景。人脸检测是识别、跟踪和分析任务的前置步骤，也是计算机视觉中非常经典的问题。我们选择 Viola-Jones，不是因为它是当前最强的方法，而是因为它把积分图、特征工程、AdaBoost 和级联结构清晰地串成了一条可解释的链路。这个课程项目的目标，就是完整实现这条链路，并在标准数据集上和 OpenCV Haar 基线做对比。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在进入细节之前，先看这次项目最终交付了什么。第一，我们完成了从积分图到后处理的完整检测链路实现。第二，我们在 LFW 上取得了最终版 v6.1 的 F1 等于 1.000 的报告结果。第三，我们不仅做了离线评估，还做了实时摄像头双屏对比演示，因此这套系统既能讲算法，也能现场展示效果。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给出项目的整体闭环。最左侧是数据准备和训练，往后连接模型训练、定量评估和实时演示，右边这张结构图对应仓库中的真实项目架构。也就是说，这个项目不是只做了一个训练脚本，而是围绕同一套自实现检测器，逐步完成了训练、评估、调试和展示的完整闭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接下来进入方法部分。Viola-Jones 的整体流程可以概括为五步：输入图像，先转成积分图；再基于积分图快速计算 Haar-like 特征；然后用 AdaBoost 从大量候选特征中选出最有判别力的一部分；这些强分类器再组成 Cascade 级联结构；最后在多尺度滑窗上完成检测和筛选。这样一条链路同时兼顾了速度、可解释性和工程可实现性。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先看最基础的两个模块。积分图的作用，是把任意矩形区域的求和从遍历像素，变成常数时间查表，这样后续大量特征计算才有可能。Haar-like 特征则负责描述亮暗结构差异，比如眼睛与脸颊、鼻梁与两侧区域之间的对比关系。右侧这张图展示了项目中具有代表性的强特征，也能帮助理解模型到底在看什么。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在有了特征之后，接下来要解决两个问题：哪些特征最有用，以及怎样让检测速度足够快。AdaBoost 负责前一个问题，它会不断挑选当前最有判别力的弱分类器，并让难分样本在下一轮获得更高权重。Cascade 负责后一个问题，它通过逐级筛除明显的背景窗口，把计算资源留给更像人脸的候选区域，因此实时检测才成为可能。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真正把模型用在图像上时，问题就不只剩下分类了。我们需要在多尺度图像金字塔上用滑动窗口去搜索不同大小的人脸，这一步由 `scale_factor`、`window_step` 和 `min_size` 控制速度与覆盖范围。检测完成后，还要靠 `min_neighbors`、`score_threshold` 和自定义的 `_cluster_weighted_merge` 去抑制误检、合并重叠框。项目后期的大部分性能提升，其实都和这些后处理细节密切相关。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这一页回到代码实现。可以看到，仓库中的模块基本就是按照算法环节来拆分的，例如积分图、特征定义、AdaBoost、Cascade、滑窗和 NMS 各有独立文件。训练、评估、审计和演示也分别对应独立脚本。这样的结构有两个好处，一是更容易逐模块调试，二是项目汇报时可以把“算法原理”和“代码实现”一一对应起来。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接下来是数据部分。训练正样本来自 WIDER FACE 裁切的人脸 patch，负样本来自非人脸自然场景。v3 使用 1000 张正样本，v6 和 v6.1 扩展到 3000 张。测试方面，我们主要使用 LFW 来评估正面人脸检测效果，同时用 Caltech Web Faces 观察在复杂场景下的边界。所有训练窗口都统一到 24×24 灰度输入，这与经典 Viola-Jones 的设置保持一致。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项目结果并不是一次训练直接得到的，而是通过几轮策略演进逐步提升上去的。早期的 v3 先建立了完整基线，接着 v6 提高正样本数量并加深级联结构，最后 v6.1 在增强策略上继续扩展，引入 gamma 校正和高斯噪声，把增强规模从 ×4 提升到 ×7。也就是说，最终效果的提升并不是单一技巧造成的，而是数据规模、增强多样性和参数调整共同作用的结果。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这一页直接展示版本迭代结果。v3、v6 和 v6.1 在样本量、增强方式、级联规模和最终指标上形成了一条清晰的上升路径。特别值得强调的是，v6 到 v6.1 的提升主要不是继续堆弱分类器数量，而是通过更丰富的数据增强改善了数据分布，这也是为什么最终版能用略少的弱分类器获得更好的结果。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接下来进入最重要的结果页。这张真实 Benchmark 图把 OpenCV Haar、项目中的不同模型版本以及最终版 v6.1 的结果放在一起对比。结论非常直接：在报告使用的设置下，最终版 v6.1 在 LFW 上达到 Precision、Recall 和 F1 都为 1.000。不过我们也没有回避复杂场景的问题，Caltech 的结果说明经典正面人脸检测方法仍然存在明显边界。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除了数值指标，案例分析也很重要。右侧这张图展示了 OpenCV 在部分样本上的失败情况，并与自实现模型的结果做了对照。它说明在正面人脸场景中，我们的检测框更稳定、误检更少。但同时也要明确，这并不意味着问题已经被完全解决，因为侧脸、小人脸和遮挡场景仍然超出了当前方法的舒适区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如果总结这次课程项目最有价值的部分，我认为不仅在于最后的指标，更在于中间解决问题的过程。比如最初误检很多，我们通过审计级联行为，发现需要依赖 `min_neighbors` 和分数阈值来补偿。再比如重叠框和框漂移问题，我们没有停留在 OpenCV 默认接口，而是自己设计了 `_cluster_weighted_merge` 和平滑跟踪策略。这些过程让项目从“能跑”变成了“能解释、能改进、能展示”。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最后做一个总结。这个项目完成了 Viola-Jones 经典检测链路的从零实现，并在标准正面人脸场景上取得了很好的结果。同时，它也清晰暴露了经典方法的局限性，比如对多姿态、小目标和重遮挡场景支持有限。下一步如果继续做下去，可以从更复杂的训练数据、更强的特征表达和更高效的实现方式几个方向继续推进。我的汇报到这里结束，感谢各位老师聆听，欢迎批评指正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>
            <a:off x="127000" y="304800"/>
            <a:ext cx="12192000" cy="6972300"/>
            <a:chOff x="0" y="-114300"/>
            <a:chExt cx="12192000" cy="6972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C8C7B">
                    <a:alpha val="18000"/>
                  </a:srgbClr>
                </a:gs>
                <a:gs pos="100000">
                  <a:srgbClr val="2C8C7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9372600" y="-114300"/>
              <a:ext cx="2362200" cy="2362200"/>
            </a:xfrm>
            <a:prstGeom prst="ellipse">
              <a:avLst/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Ellipse 5"/>
            <p:cNvSpPr/>
            <p:nvPr/>
          </p:nvSpPr>
          <p:spPr>
            <a:xfrm>
              <a:off x="9201150" y="876300"/>
              <a:ext cx="1485900" cy="1485900"/>
            </a:xfrm>
            <a:prstGeom prst="ellipse">
              <a:avLst/>
            </a:prstGeom>
            <a:solidFill>
              <a:srgbClr val="2C8C7B">
                <a:alpha val="8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9258300" y="106680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10287000" y="1333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10115550" y="895350"/>
              <a:ext cx="342900" cy="342900"/>
            </a:xfrm>
            <a:prstGeom prst="ellipse">
              <a:avLst/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10220325" y="1000125"/>
              <a:ext cx="133350" cy="133350"/>
            </a:xfrm>
            <a:prstGeom prst="ellipse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952500" y="5048250"/>
              <a:ext cx="3295650" cy="781050"/>
            </a:xfrm>
            <a:custGeom>
              <a:avLst/>
              <a:gdLst/>
              <a:ahLst/>
              <a:cxnLst/>
              <a:rect l="l" t="t" r="r" b="b"/>
              <a:pathLst>
                <a:path w="3295650" h="781050">
                  <a:moveTo>
                    <a:pt x="0" y="781050"/>
                  </a:moveTo>
                  <a:cubicBezTo>
                    <a:pt x="1257300" y="171450"/>
                    <a:pt x="2228850" y="0"/>
                    <a:pt x="3295650" y="19050"/>
                  </a:cubicBezTo>
                </a:path>
              </a:pathLst>
            </a:custGeom>
            <a:noFill/>
            <a:ln w="19050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66800" y="5162550"/>
              <a:ext cx="3333750" cy="781050"/>
            </a:xfrm>
            <a:custGeom>
              <a:avLst/>
              <a:gdLst/>
              <a:ahLst/>
              <a:cxnLst/>
              <a:rect l="l" t="t" r="r" b="b"/>
              <a:pathLst>
                <a:path w="3333750" h="781050">
                  <a:moveTo>
                    <a:pt x="0" y="781050"/>
                  </a:moveTo>
                  <a:cubicBezTo>
                    <a:pt x="1257300" y="171450"/>
                    <a:pt x="2228850" y="0"/>
                    <a:pt x="3333750" y="57150"/>
                  </a:cubicBezTo>
                </a:path>
              </a:pathLst>
            </a:custGeom>
            <a:noFill/>
            <a:ln w="14288">
              <a:solidFill>
                <a:srgbClr val="2C8C7B">
                  <a:alpha val="3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90550" y="495300"/>
            <a:ext cx="2348389" cy="600075"/>
            <a:chOff x="590550" y="495300"/>
            <a:chExt cx="2348389" cy="600075"/>
          </a:xfrm>
        </p:grpSpPr>
        <p:sp>
          <p:nvSpPr>
            <p:cNvPr id="13" name="Rectangle 13"/>
            <p:cNvSpPr/>
            <p:nvPr/>
          </p:nvSpPr>
          <p:spPr>
            <a:xfrm>
              <a:off x="609600" y="495300"/>
              <a:ext cx="16954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D97A54">
                    <a:alpha val="0"/>
                  </a:srgbClr>
                </a:gs>
                <a:gs pos="50000">
                  <a:srgbClr val="D97A54">
                    <a:alpha val="90000"/>
                  </a:srgbClr>
                </a:gs>
                <a:gs pos="100000">
                  <a:srgbClr val="D97A54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0550" y="790575"/>
              <a:ext cx="234838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计算机视觉课程</a:t>
              </a:r>
              <a:r>
                <a:rPr lang="zh-CN" altLang="en-US" sz="1500" b="1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期末</a:t>
              </a:r>
              <a:r>
                <a:rPr lang="zh-CN" sz="1500" b="1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答辩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48640" y="2072640"/>
            <a:ext cx="6271489" cy="1718310"/>
            <a:chOff x="548640" y="2072640"/>
            <a:chExt cx="6271489" cy="1718310"/>
          </a:xfrm>
        </p:grpSpPr>
        <p:sp>
          <p:nvSpPr>
            <p:cNvPr id="16" name="TextBox 16"/>
            <p:cNvSpPr txBox="1"/>
            <p:nvPr/>
          </p:nvSpPr>
          <p:spPr>
            <a:xfrm>
              <a:off x="548640" y="2072640"/>
              <a:ext cx="6271489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基于 Viola-Jones 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8640" y="2815590"/>
              <a:ext cx="5498592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rgbClr val="16324F"/>
                      </a:gs>
                      <a:gs pos="100000">
                        <a:srgbClr val="2C8C7B"/>
                      </a:gs>
                    </a:gsLst>
                    <a:lin ang="0" scaled="1"/>
                  </a:gradFill>
                  <a:latin typeface="Georgia"/>
                  <a:ea typeface="Microsoft YaHei"/>
                  <a:cs typeface="Georgia"/>
                </a:rPr>
                <a:t>实时人脸检测系统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" y="3695700"/>
              <a:ext cx="4019550" cy="57150"/>
            </a:xfrm>
            <a:prstGeom prst="roundRect">
              <a:avLst>
                <a:gd name="adj" fmla="val 50000"/>
              </a:avLst>
            </a:prstGeom>
            <a:solidFill>
              <a:srgbClr val="2C8C7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09600" y="4210050"/>
            <a:ext cx="5224320" cy="1197769"/>
            <a:chOff x="609600" y="4210050"/>
            <a:chExt cx="5224320" cy="1197769"/>
          </a:xfrm>
        </p:grpSpPr>
        <p:sp>
          <p:nvSpPr>
            <p:cNvPr id="20" name="Rectangle 20"/>
            <p:cNvSpPr/>
            <p:nvPr/>
          </p:nvSpPr>
          <p:spPr>
            <a:xfrm>
              <a:off x="609600" y="4210050"/>
              <a:ext cx="5048250" cy="1143000"/>
            </a:xfrm>
            <a:prstGeom prst="roundRect">
              <a:avLst>
                <a:gd name="adj" fmla="val 1833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4395" y="4412932"/>
              <a:ext cx="49595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从零实现 Integral Image、Haar-like Features、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4395" y="4755832"/>
              <a:ext cx="43434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AdaBoost、Cascade 级联检测与后处理优化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9158" y="514873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聚焦算法理解、系统实现、实验设计与结果分析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62850" y="2781300"/>
            <a:ext cx="3924300" cy="2230272"/>
            <a:chOff x="7562850" y="2781300"/>
            <a:chExt cx="3924300" cy="2230272"/>
          </a:xfrm>
        </p:grpSpPr>
        <p:sp>
          <p:nvSpPr>
            <p:cNvPr id="25" name="Rectangle 25"/>
            <p:cNvSpPr/>
            <p:nvPr/>
          </p:nvSpPr>
          <p:spPr>
            <a:xfrm>
              <a:off x="7562850" y="2781300"/>
              <a:ext cx="3924300" cy="2209800"/>
            </a:xfrm>
            <a:prstGeom prst="roundRect">
              <a:avLst>
                <a:gd name="adj" fmla="val 11207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9555" y="31499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答辩主线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7886700" y="346710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7B8794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65745" y="3689032"/>
              <a:ext cx="27152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01 经典算法原理与实现思路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65745" y="4050982"/>
              <a:ext cx="29902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02 数据、训练与参数优化路径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65745" y="4412932"/>
              <a:ext cx="3012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03 与 OpenCV 的实验结果对比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70508" y="4815364"/>
              <a:ext cx="3262789" cy="1962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endParaRPr lang="zh-CN" sz="1275" dirty="0">
                <a:solidFill>
                  <a:srgbClr val="D9D2C5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95311" y="6153150"/>
            <a:ext cx="11001376" cy="431006"/>
            <a:chOff x="595311" y="6153150"/>
            <a:chExt cx="11001376" cy="431006"/>
          </a:xfrm>
        </p:grpSpPr>
        <p:sp>
          <p:nvSpPr>
            <p:cNvPr id="33" name="Freeform 33"/>
            <p:cNvSpPr/>
            <p:nvPr/>
          </p:nvSpPr>
          <p:spPr>
            <a:xfrm>
              <a:off x="609600" y="6153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5311" y="6355556"/>
              <a:ext cx="58586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课程项目 · 2026 年 5 月 · 小组成员：</a:t>
              </a:r>
              <a:r>
                <a:rPr lang="zh-CN" altLang="en-US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龚正硕</a:t>
              </a:r>
              <a:r>
                <a:rPr lang="en-US" alt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-2023211729</a:t>
              </a:r>
              <a:r>
                <a:rPr 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altLang="en-US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谈亮</a:t>
              </a:r>
              <a:r>
                <a:rPr lang="en-US" alt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-2023211884</a:t>
              </a:r>
              <a:r>
                <a:rPr 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altLang="en-US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蒋一鸣</a:t>
              </a:r>
              <a:r>
                <a:rPr lang="en-US" alt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-2023211751</a:t>
              </a:r>
              <a:endParaRPr lang="zh-CN" sz="1125" dirty="0">
                <a:solidFill>
                  <a:srgbClr val="7B8794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65287" y="6355556"/>
              <a:ext cx="26314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r"/>
              <a:r>
                <a:rPr lang="zh-CN" sz="1125" dirty="0">
                  <a:solidFill>
                    <a:srgbClr val="7B8794"/>
                  </a:solidFill>
                  <a:latin typeface="Arial"/>
                  <a:ea typeface="Microsoft YaHei"/>
                  <a:cs typeface="Arial"/>
                </a:rPr>
                <a:t>face_detection_course_defense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320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答辩内容目录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从项目目标到结果反思，按答辩逻辑逐层展开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</p:grpSp>
      <p:grpSp>
        <p:nvGrpSpPr>
          <p:cNvPr id="19" name="Group 19"/>
          <p:cNvGrpSpPr/>
          <p:nvPr/>
        </p:nvGrpSpPr>
        <p:grpSpPr>
          <a:xfrm>
            <a:off x="4457700" y="5048250"/>
            <a:ext cx="4370451" cy="876300"/>
            <a:chOff x="4457700" y="5048250"/>
            <a:chExt cx="4370451" cy="876300"/>
          </a:xfrm>
        </p:grpSpPr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</p:grpSp>
      <p:sp>
        <p:nvSpPr>
          <p:cNvPr id="24" name="TOC Card 24"/>
          <p:cNvSpPr/>
          <p:nvPr/>
        </p:nvSpPr>
        <p:spPr>
          <a:xfrm>
            <a:off x="1040000" y="1850000"/>
            <a:ext cx="10100000" cy="620000"/>
          </a:xfrm>
          <a:prstGeom prst="roundRect">
            <a:avLst/>
          </a:prstGeom>
          <a:solidFill>
            <a:srgbClr val="16324F"/>
          </a:solidFill>
          <a:ln w="1524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OC Text 25"/>
          <p:cNvSpPr/>
          <p:nvPr/>
        </p:nvSpPr>
        <p:spPr>
          <a:xfrm>
            <a:off x="1300000" y="1982000"/>
            <a:ext cx="560000" cy="280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 lang="zh-CN" sz="2400"/>
          </a:p>
        </p:txBody>
      </p:sp>
      <p:sp>
        <p:nvSpPr>
          <p:cNvPr id="26" name="TOC Text 26"/>
          <p:cNvSpPr/>
          <p:nvPr/>
        </p:nvSpPr>
        <p:spPr>
          <a:xfrm>
            <a:off x="2030000" y="1975000"/>
            <a:ext cx="2100000" cy="26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项目目标</a:t>
            </a:r>
            <a:endParaRPr lang="zh-CN" sz="1800"/>
          </a:p>
        </p:txBody>
      </p:sp>
      <p:sp>
        <p:nvSpPr>
          <p:cNvPr id="27" name="TOC Text 27"/>
          <p:cNvSpPr/>
          <p:nvPr/>
        </p:nvSpPr>
        <p:spPr>
          <a:xfrm>
            <a:off x="2030000" y="2248000"/>
            <a:ext cx="8200000" cy="18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120">
                <a:solidFill>
                  <a:srgbClr val="DCE7F0"/>
                </a:solidFill>
                <a:latin typeface="Microsoft YaHei"/>
                <a:ea typeface="Microsoft YaHei"/>
              </a:rPr>
              <a:t>背景、任务要求与最终成果速览</a:t>
            </a:r>
            <a:endParaRPr lang="zh-CN" sz="1120"/>
          </a:p>
        </p:txBody>
      </p:sp>
      <p:sp>
        <p:nvSpPr>
          <p:cNvPr id="28" name="TOC Card 28"/>
          <p:cNvSpPr/>
          <p:nvPr/>
        </p:nvSpPr>
        <p:spPr>
          <a:xfrm>
            <a:off x="1040000" y="2595000"/>
            <a:ext cx="10100000" cy="620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OC Text 29"/>
          <p:cNvSpPr/>
          <p:nvPr/>
        </p:nvSpPr>
        <p:spPr>
          <a:xfrm>
            <a:off x="1300000" y="2727000"/>
            <a:ext cx="560000" cy="280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2400" b="1">
                <a:solidFill>
                  <a:srgbClr val="2C8C7B"/>
                </a:solidFill>
                <a:latin typeface="Microsoft YaHei"/>
                <a:ea typeface="Microsoft YaHei"/>
              </a:rPr>
              <a:t>02</a:t>
            </a:r>
            <a:endParaRPr lang="zh-CN" sz="2400"/>
          </a:p>
        </p:txBody>
      </p:sp>
      <p:sp>
        <p:nvSpPr>
          <p:cNvPr id="30" name="TOC Text 30"/>
          <p:cNvSpPr/>
          <p:nvPr/>
        </p:nvSpPr>
        <p:spPr>
          <a:xfrm>
            <a:off x="2030000" y="2720000"/>
            <a:ext cx="2100000" cy="26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800" b="1">
                <a:solidFill>
                  <a:srgbClr val="16324F"/>
                </a:solidFill>
                <a:latin typeface="Microsoft YaHei"/>
                <a:ea typeface="Microsoft YaHei"/>
              </a:rPr>
              <a:t>算法原理</a:t>
            </a:r>
            <a:endParaRPr lang="zh-CN" sz="1800"/>
          </a:p>
        </p:txBody>
      </p:sp>
      <p:sp>
        <p:nvSpPr>
          <p:cNvPr id="31" name="TOC Text 31"/>
          <p:cNvSpPr/>
          <p:nvPr/>
        </p:nvSpPr>
        <p:spPr>
          <a:xfrm>
            <a:off x="2030000" y="2993000"/>
            <a:ext cx="8200000" cy="18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120">
                <a:solidFill>
                  <a:srgbClr val="5B6573"/>
                </a:solidFill>
                <a:latin typeface="Microsoft YaHei"/>
                <a:ea typeface="Microsoft YaHei"/>
              </a:rPr>
              <a:t>Integral Image、Haar-like Features、AdaBoost、Cascade</a:t>
            </a:r>
            <a:endParaRPr lang="zh-CN" sz="1120"/>
          </a:p>
        </p:txBody>
      </p:sp>
      <p:sp>
        <p:nvSpPr>
          <p:cNvPr id="32" name="TOC Card 32"/>
          <p:cNvSpPr/>
          <p:nvPr/>
        </p:nvSpPr>
        <p:spPr>
          <a:xfrm>
            <a:off x="1040000" y="3340000"/>
            <a:ext cx="10100000" cy="620000"/>
          </a:xfrm>
          <a:prstGeom prst="roundRect">
            <a:avLst/>
          </a:prstGeom>
          <a:solidFill>
            <a:srgbClr val="E6F2EE"/>
          </a:solidFill>
          <a:ln w="1524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OC Text 33"/>
          <p:cNvSpPr/>
          <p:nvPr/>
        </p:nvSpPr>
        <p:spPr>
          <a:xfrm>
            <a:off x="1300000" y="3472000"/>
            <a:ext cx="560000" cy="280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2400" b="1">
                <a:solidFill>
                  <a:srgbClr val="2C8C7B"/>
                </a:solidFill>
                <a:latin typeface="Microsoft YaHei"/>
                <a:ea typeface="Microsoft YaHei"/>
              </a:rPr>
              <a:t>03</a:t>
            </a:r>
            <a:endParaRPr lang="zh-CN" sz="2400"/>
          </a:p>
        </p:txBody>
      </p:sp>
      <p:sp>
        <p:nvSpPr>
          <p:cNvPr id="34" name="TOC Text 34"/>
          <p:cNvSpPr/>
          <p:nvPr/>
        </p:nvSpPr>
        <p:spPr>
          <a:xfrm>
            <a:off x="2030000" y="3465000"/>
            <a:ext cx="2100000" cy="26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800" b="1">
                <a:solidFill>
                  <a:srgbClr val="16324F"/>
                </a:solidFill>
                <a:latin typeface="Microsoft YaHei"/>
                <a:ea typeface="Microsoft YaHei"/>
              </a:rPr>
              <a:t>系统实现</a:t>
            </a:r>
            <a:endParaRPr lang="zh-CN" sz="1800"/>
          </a:p>
        </p:txBody>
      </p:sp>
      <p:sp>
        <p:nvSpPr>
          <p:cNvPr id="35" name="TOC Text 35"/>
          <p:cNvSpPr/>
          <p:nvPr/>
        </p:nvSpPr>
        <p:spPr>
          <a:xfrm>
            <a:off x="2030000" y="3738000"/>
            <a:ext cx="8200000" cy="18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120">
                <a:solidFill>
                  <a:srgbClr val="5B6573"/>
                </a:solidFill>
                <a:latin typeface="Microsoft YaHei"/>
                <a:ea typeface="Microsoft YaHei"/>
              </a:rPr>
              <a:t>代码模块、多尺度滑窗、后处理与实时演示</a:t>
            </a:r>
            <a:endParaRPr lang="zh-CN" sz="1120"/>
          </a:p>
        </p:txBody>
      </p:sp>
      <p:sp>
        <p:nvSpPr>
          <p:cNvPr id="36" name="TOC Card 36"/>
          <p:cNvSpPr/>
          <p:nvPr/>
        </p:nvSpPr>
        <p:spPr>
          <a:xfrm>
            <a:off x="1040000" y="4085000"/>
            <a:ext cx="10100000" cy="620000"/>
          </a:xfrm>
          <a:prstGeom prst="roundRect">
            <a:avLst/>
          </a:prstGeom>
          <a:solidFill>
            <a:srgbClr val="FFFDF9"/>
          </a:solidFill>
          <a:ln w="15240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OC Text 37"/>
          <p:cNvSpPr/>
          <p:nvPr/>
        </p:nvSpPr>
        <p:spPr>
          <a:xfrm>
            <a:off x="1300000" y="4217000"/>
            <a:ext cx="560000" cy="280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2400" b="1">
                <a:solidFill>
                  <a:srgbClr val="B96935"/>
                </a:solidFill>
                <a:latin typeface="Microsoft YaHei"/>
                <a:ea typeface="Microsoft YaHei"/>
              </a:rPr>
              <a:t>04</a:t>
            </a:r>
            <a:endParaRPr lang="zh-CN" sz="2400"/>
          </a:p>
        </p:txBody>
      </p:sp>
      <p:sp>
        <p:nvSpPr>
          <p:cNvPr id="38" name="TOC Text 38"/>
          <p:cNvSpPr/>
          <p:nvPr/>
        </p:nvSpPr>
        <p:spPr>
          <a:xfrm>
            <a:off x="2030000" y="4210000"/>
            <a:ext cx="2100000" cy="26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800" b="1">
                <a:solidFill>
                  <a:srgbClr val="16324F"/>
                </a:solidFill>
                <a:latin typeface="Microsoft YaHei"/>
                <a:ea typeface="Microsoft YaHei"/>
              </a:rPr>
              <a:t>训练与调参</a:t>
            </a:r>
            <a:endParaRPr lang="zh-CN" sz="1800"/>
          </a:p>
        </p:txBody>
      </p:sp>
      <p:sp>
        <p:nvSpPr>
          <p:cNvPr id="39" name="TOC Text 39"/>
          <p:cNvSpPr/>
          <p:nvPr/>
        </p:nvSpPr>
        <p:spPr>
          <a:xfrm>
            <a:off x="2030000" y="4483000"/>
            <a:ext cx="8200000" cy="18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120">
                <a:solidFill>
                  <a:srgbClr val="5B6573"/>
                </a:solidFill>
                <a:latin typeface="Microsoft YaHei"/>
                <a:ea typeface="Microsoft YaHei"/>
              </a:rPr>
              <a:t>数据构建、HNM、FPR 诊断与参数优化</a:t>
            </a:r>
            <a:endParaRPr lang="zh-CN" sz="1120"/>
          </a:p>
        </p:txBody>
      </p:sp>
      <p:sp>
        <p:nvSpPr>
          <p:cNvPr id="40" name="TOC Card 40"/>
          <p:cNvSpPr/>
          <p:nvPr/>
        </p:nvSpPr>
        <p:spPr>
          <a:xfrm>
            <a:off x="1040000" y="4830000"/>
            <a:ext cx="10100000" cy="620000"/>
          </a:xfrm>
          <a:prstGeom prst="roundRect">
            <a:avLst/>
          </a:prstGeom>
          <a:solidFill>
            <a:srgbClr val="F7EFE2"/>
          </a:solidFill>
          <a:ln w="1524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OC Text 41"/>
          <p:cNvSpPr/>
          <p:nvPr/>
        </p:nvSpPr>
        <p:spPr>
          <a:xfrm>
            <a:off x="1300000" y="4962000"/>
            <a:ext cx="560000" cy="280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2400" b="1">
                <a:solidFill>
                  <a:srgbClr val="B96935"/>
                </a:solidFill>
                <a:latin typeface="Microsoft YaHei"/>
                <a:ea typeface="Microsoft YaHei"/>
              </a:rPr>
              <a:t>05</a:t>
            </a:r>
            <a:endParaRPr lang="zh-CN" sz="2400"/>
          </a:p>
        </p:txBody>
      </p:sp>
      <p:sp>
        <p:nvSpPr>
          <p:cNvPr id="42" name="TOC Text 42"/>
          <p:cNvSpPr/>
          <p:nvPr/>
        </p:nvSpPr>
        <p:spPr>
          <a:xfrm>
            <a:off x="2030000" y="4955000"/>
            <a:ext cx="2100000" cy="26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800" b="1">
                <a:solidFill>
                  <a:srgbClr val="16324F"/>
                </a:solidFill>
                <a:latin typeface="Microsoft YaHei"/>
                <a:ea typeface="Microsoft YaHei"/>
              </a:rPr>
              <a:t>结果与反思</a:t>
            </a:r>
            <a:endParaRPr lang="zh-CN" sz="1800"/>
          </a:p>
        </p:txBody>
      </p:sp>
      <p:sp>
        <p:nvSpPr>
          <p:cNvPr id="43" name="TOC Text 43"/>
          <p:cNvSpPr/>
          <p:nvPr/>
        </p:nvSpPr>
        <p:spPr>
          <a:xfrm>
            <a:off x="2030000" y="5228000"/>
            <a:ext cx="8200000" cy="18500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l">
              <a:defRPr/>
            </a:pPr>
            <a:r>
              <a:rPr lang="zh-CN" sz="1120">
                <a:solidFill>
                  <a:srgbClr val="5B6573"/>
                </a:solidFill>
                <a:latin typeface="Microsoft YaHei"/>
                <a:ea typeface="Microsoft YaHei"/>
              </a:rPr>
              <a:t>Benchmark 对比、案例边界、亮点与改进方向</a:t>
            </a:r>
            <a:endParaRPr lang="zh-CN" sz="1120"/>
          </a:p>
        </p:txBody>
      </p:sp>
      <p:sp>
        <p:nvSpPr>
          <p:cNvPr id="44" name="TOC Text 44"/>
          <p:cNvSpPr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 w="19050">
            <a:noFill/>
          </a:ln>
        </p:spPr>
        <p:txBody>
          <a:bodyPr wrap="square" lIns="0" tIns="0" rIns="0" bIns="0" anchor="t" anchorCtr="0"/>
          <a:lstStyle/>
          <a:p>
            <a:pPr algn="r">
              <a:defRPr/>
            </a:pPr>
            <a:r>
              <a:rPr lang="zh-CN" sz="1050">
                <a:solidFill>
                  <a:srgbClr val="7B8794"/>
                </a:solidFill>
                <a:latin typeface="Microsoft YaHei"/>
                <a:ea typeface="Microsoft YaHei"/>
              </a:rPr>
              <a:t>2</a:t>
            </a:r>
            <a:endParaRPr lang="zh-CN" sz="105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457200" y="419100"/>
              <a:ext cx="112776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2955" y="721042"/>
            <a:ext cx="10532745" cy="812483"/>
            <a:chOff x="782955" y="721042"/>
            <a:chExt cx="10532745" cy="812483"/>
          </a:xfrm>
        </p:grpSpPr>
        <p:sp>
          <p:nvSpPr>
            <p:cNvPr id="5" name="TextBox 5"/>
            <p:cNvSpPr txBox="1"/>
            <p:nvPr/>
          </p:nvSpPr>
          <p:spPr>
            <a:xfrm>
              <a:off x="782955" y="721042"/>
              <a:ext cx="28657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背景与项目目标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2005" y="1187768"/>
              <a:ext cx="468787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为什么选 Viola-Jones，这个课程项目要完成什么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19150" y="1524000"/>
              <a:ext cx="10496550" cy="9525"/>
            </a:xfrm>
            <a:custGeom>
              <a:avLst/>
              <a:gdLst/>
              <a:ahLst/>
              <a:cxnLst/>
              <a:rect l="l" t="t" r="r" b="b"/>
              <a:pathLst>
                <a:path w="10496550" h="9525">
                  <a:moveTo>
                    <a:pt x="0" y="0"/>
                  </a:moveTo>
                  <a:lnTo>
                    <a:pt x="104965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9150" y="1885950"/>
            <a:ext cx="3295650" cy="3524250"/>
            <a:chOff x="819150" y="1885950"/>
            <a:chExt cx="3295650" cy="3524250"/>
          </a:xfrm>
        </p:grpSpPr>
        <p:sp>
          <p:nvSpPr>
            <p:cNvPr id="9" name="Rectangle 9"/>
            <p:cNvSpPr/>
            <p:nvPr/>
          </p:nvSpPr>
          <p:spPr>
            <a:xfrm>
              <a:off x="819150" y="1885950"/>
              <a:ext cx="3295650" cy="3524250"/>
            </a:xfrm>
            <a:prstGeom prst="roundRect">
              <a:avLst>
                <a:gd name="adj" fmla="val 7514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1885950"/>
              <a:ext cx="3295650" cy="133350"/>
            </a:xfrm>
            <a:prstGeom prst="roundRect">
              <a:avLst>
                <a:gd name="adj" fmla="val 5000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96962" y="2255044"/>
              <a:ext cx="301625" cy="271462"/>
            </a:xfrm>
            <a:custGeom>
              <a:avLst/>
              <a:gdLst/>
              <a:ahLst/>
              <a:cxnLst/>
              <a:rect l="l" t="t" r="r" b="b"/>
              <a:pathLst>
                <a:path w="301625" h="271462">
                  <a:moveTo>
                    <a:pt x="286544" y="0"/>
                  </a:moveTo>
                  <a:cubicBezTo>
                    <a:pt x="294873" y="0"/>
                    <a:pt x="301625" y="6752"/>
                    <a:pt x="301625" y="15081"/>
                  </a:cubicBezTo>
                  <a:cubicBezTo>
                    <a:pt x="301625" y="23410"/>
                    <a:pt x="294873" y="30162"/>
                    <a:pt x="286544" y="30162"/>
                  </a:cubicBezTo>
                  <a:lnTo>
                    <a:pt x="286544" y="165894"/>
                  </a:lnTo>
                  <a:cubicBezTo>
                    <a:pt x="286544" y="190881"/>
                    <a:pt x="266287" y="211138"/>
                    <a:pt x="241300" y="211138"/>
                  </a:cubicBezTo>
                  <a:lnTo>
                    <a:pt x="165894" y="211138"/>
                  </a:lnTo>
                  <a:lnTo>
                    <a:pt x="165894" y="241300"/>
                  </a:lnTo>
                  <a:lnTo>
                    <a:pt x="196056" y="241300"/>
                  </a:lnTo>
                  <a:cubicBezTo>
                    <a:pt x="204385" y="241300"/>
                    <a:pt x="211138" y="248052"/>
                    <a:pt x="211138" y="256381"/>
                  </a:cubicBezTo>
                  <a:cubicBezTo>
                    <a:pt x="211138" y="264710"/>
                    <a:pt x="204385" y="271462"/>
                    <a:pt x="196056" y="271462"/>
                  </a:cubicBezTo>
                  <a:lnTo>
                    <a:pt x="105569" y="271462"/>
                  </a:lnTo>
                  <a:cubicBezTo>
                    <a:pt x="97240" y="271462"/>
                    <a:pt x="90488" y="264710"/>
                    <a:pt x="90488" y="256381"/>
                  </a:cubicBezTo>
                  <a:cubicBezTo>
                    <a:pt x="90488" y="248052"/>
                    <a:pt x="97240" y="241300"/>
                    <a:pt x="105569" y="241300"/>
                  </a:cubicBezTo>
                  <a:lnTo>
                    <a:pt x="135731" y="241300"/>
                  </a:lnTo>
                  <a:lnTo>
                    <a:pt x="135731" y="211138"/>
                  </a:lnTo>
                  <a:lnTo>
                    <a:pt x="60325" y="211138"/>
                  </a:lnTo>
                  <a:cubicBezTo>
                    <a:pt x="35338" y="211138"/>
                    <a:pt x="15081" y="190881"/>
                    <a:pt x="15081" y="165894"/>
                  </a:cubicBezTo>
                  <a:lnTo>
                    <a:pt x="15081" y="30162"/>
                  </a:lnTo>
                  <a:cubicBezTo>
                    <a:pt x="6752" y="30162"/>
                    <a:pt x="0" y="23410"/>
                    <a:pt x="0" y="15081"/>
                  </a:cubicBezTo>
                  <a:cubicBezTo>
                    <a:pt x="0" y="6752"/>
                    <a:pt x="6752" y="0"/>
                    <a:pt x="15081" y="0"/>
                  </a:cubicBezTo>
                  <a:close/>
                  <a:moveTo>
                    <a:pt x="105569" y="60325"/>
                  </a:moveTo>
                  <a:cubicBezTo>
                    <a:pt x="97240" y="60325"/>
                    <a:pt x="90488" y="67077"/>
                    <a:pt x="90488" y="75406"/>
                  </a:cubicBezTo>
                  <a:lnTo>
                    <a:pt x="90488" y="135731"/>
                  </a:lnTo>
                  <a:cubicBezTo>
                    <a:pt x="90488" y="144060"/>
                    <a:pt x="97240" y="150813"/>
                    <a:pt x="105569" y="150813"/>
                  </a:cubicBezTo>
                  <a:cubicBezTo>
                    <a:pt x="113898" y="150813"/>
                    <a:pt x="120650" y="144060"/>
                    <a:pt x="120650" y="135731"/>
                  </a:cubicBezTo>
                  <a:lnTo>
                    <a:pt x="120650" y="75406"/>
                  </a:lnTo>
                  <a:cubicBezTo>
                    <a:pt x="120650" y="67077"/>
                    <a:pt x="113898" y="60325"/>
                    <a:pt x="105569" y="60325"/>
                  </a:cubicBezTo>
                  <a:moveTo>
                    <a:pt x="196056" y="90488"/>
                  </a:moveTo>
                  <a:cubicBezTo>
                    <a:pt x="187727" y="90488"/>
                    <a:pt x="180975" y="97240"/>
                    <a:pt x="180975" y="105569"/>
                  </a:cubicBezTo>
                  <a:lnTo>
                    <a:pt x="180975" y="135731"/>
                  </a:lnTo>
                  <a:cubicBezTo>
                    <a:pt x="180975" y="144060"/>
                    <a:pt x="187727" y="150813"/>
                    <a:pt x="196056" y="150813"/>
                  </a:cubicBezTo>
                  <a:cubicBezTo>
                    <a:pt x="204385" y="150813"/>
                    <a:pt x="211138" y="144060"/>
                    <a:pt x="211138" y="135731"/>
                  </a:cubicBezTo>
                  <a:lnTo>
                    <a:pt x="211138" y="105569"/>
                  </a:lnTo>
                  <a:cubicBezTo>
                    <a:pt x="211138" y="97240"/>
                    <a:pt x="204385" y="90488"/>
                    <a:pt x="196056" y="90488"/>
                  </a:cubicBezTo>
                  <a:moveTo>
                    <a:pt x="150812" y="105569"/>
                  </a:moveTo>
                  <a:cubicBezTo>
                    <a:pt x="142483" y="105569"/>
                    <a:pt x="135731" y="112321"/>
                    <a:pt x="135731" y="120650"/>
                  </a:cubicBezTo>
                  <a:lnTo>
                    <a:pt x="135731" y="135731"/>
                  </a:lnTo>
                  <a:cubicBezTo>
                    <a:pt x="135731" y="144060"/>
                    <a:pt x="142483" y="150813"/>
                    <a:pt x="150812" y="150813"/>
                  </a:cubicBezTo>
                  <a:cubicBezTo>
                    <a:pt x="159142" y="150813"/>
                    <a:pt x="165894" y="144060"/>
                    <a:pt x="165894" y="135731"/>
                  </a:cubicBezTo>
                  <a:lnTo>
                    <a:pt x="165894" y="120650"/>
                  </a:lnTo>
                  <a:cubicBezTo>
                    <a:pt x="165894" y="112321"/>
                    <a:pt x="159142" y="105569"/>
                    <a:pt x="150812" y="105569"/>
                  </a:cubicBezTo>
                </a:path>
              </a:pathLst>
            </a:cu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39240" y="22821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项目背景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7750" y="2886075"/>
              <a:ext cx="26384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人脸检测是识别、跟踪、分析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7750" y="320992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等任务的前置基础，也是计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7750" y="353377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算机视觉中最经典的检测问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7750" y="38576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题之一。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1560" y="44234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目标不只是调用现成模型，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1560" y="46901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而是理解经典检测算法的完整链路。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48175" y="1885950"/>
            <a:ext cx="3623310" cy="3524250"/>
            <a:chOff x="4448175" y="1885950"/>
            <a:chExt cx="3623310" cy="3524250"/>
          </a:xfrm>
        </p:grpSpPr>
        <p:sp>
          <p:nvSpPr>
            <p:cNvPr id="20" name="Rectangle 20"/>
            <p:cNvSpPr/>
            <p:nvPr/>
          </p:nvSpPr>
          <p:spPr>
            <a:xfrm>
              <a:off x="4448175" y="1885950"/>
              <a:ext cx="3295650" cy="3524250"/>
            </a:xfrm>
            <a:prstGeom prst="roundRect">
              <a:avLst>
                <a:gd name="adj" fmla="val 7514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48175" y="1885950"/>
              <a:ext cx="3295650" cy="133350"/>
            </a:xfrm>
            <a:prstGeom prst="roundRect">
              <a:avLst>
                <a:gd name="adj" fmla="val 50000"/>
              </a:avLst>
            </a:prstGeom>
            <a:solidFill>
              <a:srgbClr val="2C8C7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4739434" y="2255044"/>
              <a:ext cx="275233" cy="271985"/>
            </a:xfrm>
            <a:custGeom>
              <a:avLst/>
              <a:gdLst/>
              <a:ahLst/>
              <a:cxnLst/>
              <a:rect l="l" t="t" r="r" b="b"/>
              <a:pathLst>
                <a:path w="275233" h="271985">
                  <a:moveTo>
                    <a:pt x="271499" y="189315"/>
                  </a:moveTo>
                  <a:cubicBezTo>
                    <a:pt x="275217" y="196761"/>
                    <a:pt x="272200" y="205813"/>
                    <a:pt x="264757" y="209539"/>
                  </a:cubicBezTo>
                  <a:lnTo>
                    <a:pt x="144107" y="269864"/>
                  </a:lnTo>
                  <a:cubicBezTo>
                    <a:pt x="139863" y="271985"/>
                    <a:pt x="134869" y="271985"/>
                    <a:pt x="130625" y="269864"/>
                  </a:cubicBezTo>
                  <a:lnTo>
                    <a:pt x="9975" y="209539"/>
                  </a:lnTo>
                  <a:cubicBezTo>
                    <a:pt x="2803" y="205672"/>
                    <a:pt x="0" y="196808"/>
                    <a:pt x="3644" y="189520"/>
                  </a:cubicBezTo>
                  <a:cubicBezTo>
                    <a:pt x="7288" y="182233"/>
                    <a:pt x="16061" y="179157"/>
                    <a:pt x="23457" y="182574"/>
                  </a:cubicBezTo>
                  <a:lnTo>
                    <a:pt x="137366" y="239490"/>
                  </a:lnTo>
                  <a:lnTo>
                    <a:pt x="251290" y="182559"/>
                  </a:lnTo>
                  <a:cubicBezTo>
                    <a:pt x="258736" y="178840"/>
                    <a:pt x="267788" y="181857"/>
                    <a:pt x="271514" y="189300"/>
                  </a:cubicBezTo>
                  <a:moveTo>
                    <a:pt x="271514" y="128975"/>
                  </a:moveTo>
                  <a:cubicBezTo>
                    <a:pt x="275233" y="136421"/>
                    <a:pt x="272215" y="145473"/>
                    <a:pt x="264772" y="149199"/>
                  </a:cubicBezTo>
                  <a:lnTo>
                    <a:pt x="144122" y="209524"/>
                  </a:lnTo>
                  <a:cubicBezTo>
                    <a:pt x="139878" y="211645"/>
                    <a:pt x="134884" y="211645"/>
                    <a:pt x="130640" y="209524"/>
                  </a:cubicBezTo>
                  <a:lnTo>
                    <a:pt x="9990" y="149199"/>
                  </a:lnTo>
                  <a:cubicBezTo>
                    <a:pt x="2818" y="145332"/>
                    <a:pt x="15" y="136468"/>
                    <a:pt x="3659" y="129180"/>
                  </a:cubicBezTo>
                  <a:cubicBezTo>
                    <a:pt x="7303" y="121893"/>
                    <a:pt x="16076" y="118817"/>
                    <a:pt x="23472" y="122234"/>
                  </a:cubicBezTo>
                  <a:lnTo>
                    <a:pt x="137366" y="179165"/>
                  </a:lnTo>
                  <a:lnTo>
                    <a:pt x="251290" y="122234"/>
                  </a:lnTo>
                  <a:cubicBezTo>
                    <a:pt x="258736" y="118515"/>
                    <a:pt x="267788" y="121532"/>
                    <a:pt x="271514" y="128975"/>
                  </a:cubicBezTo>
                  <a:moveTo>
                    <a:pt x="137487" y="0"/>
                  </a:moveTo>
                  <a:cubicBezTo>
                    <a:pt x="138050" y="0"/>
                    <a:pt x="138608" y="35"/>
                    <a:pt x="139161" y="106"/>
                  </a:cubicBezTo>
                  <a:lnTo>
                    <a:pt x="140835" y="407"/>
                  </a:lnTo>
                  <a:lnTo>
                    <a:pt x="142132" y="769"/>
                  </a:lnTo>
                  <a:lnTo>
                    <a:pt x="142313" y="860"/>
                  </a:lnTo>
                  <a:lnTo>
                    <a:pt x="142494" y="890"/>
                  </a:lnTo>
                  <a:lnTo>
                    <a:pt x="142931" y="1101"/>
                  </a:lnTo>
                  <a:lnTo>
                    <a:pt x="143685" y="1387"/>
                  </a:lnTo>
                  <a:lnTo>
                    <a:pt x="143926" y="1523"/>
                  </a:lnTo>
                  <a:lnTo>
                    <a:pt x="144107" y="1599"/>
                  </a:lnTo>
                  <a:lnTo>
                    <a:pt x="264757" y="61924"/>
                  </a:lnTo>
                  <a:cubicBezTo>
                    <a:pt x="269860" y="64481"/>
                    <a:pt x="273081" y="69699"/>
                    <a:pt x="273081" y="75406"/>
                  </a:cubicBezTo>
                  <a:cubicBezTo>
                    <a:pt x="273081" y="81113"/>
                    <a:pt x="269860" y="86332"/>
                    <a:pt x="264757" y="88889"/>
                  </a:cubicBezTo>
                  <a:lnTo>
                    <a:pt x="144107" y="149214"/>
                  </a:lnTo>
                  <a:cubicBezTo>
                    <a:pt x="139863" y="151335"/>
                    <a:pt x="134869" y="151335"/>
                    <a:pt x="130625" y="149214"/>
                  </a:cubicBezTo>
                  <a:lnTo>
                    <a:pt x="9975" y="88889"/>
                  </a:lnTo>
                  <a:cubicBezTo>
                    <a:pt x="4872" y="86332"/>
                    <a:pt x="1651" y="81113"/>
                    <a:pt x="1651" y="75406"/>
                  </a:cubicBezTo>
                  <a:cubicBezTo>
                    <a:pt x="1651" y="69699"/>
                    <a:pt x="4872" y="64481"/>
                    <a:pt x="9975" y="61924"/>
                  </a:cubicBezTo>
                  <a:lnTo>
                    <a:pt x="130625" y="1599"/>
                  </a:lnTo>
                  <a:lnTo>
                    <a:pt x="130791" y="1523"/>
                  </a:lnTo>
                  <a:lnTo>
                    <a:pt x="131062" y="1372"/>
                  </a:lnTo>
                  <a:lnTo>
                    <a:pt x="132238" y="890"/>
                  </a:lnTo>
                  <a:lnTo>
                    <a:pt x="132404" y="860"/>
                  </a:lnTo>
                  <a:lnTo>
                    <a:pt x="132600" y="769"/>
                  </a:lnTo>
                  <a:lnTo>
                    <a:pt x="133897" y="407"/>
                  </a:lnTo>
                  <a:lnTo>
                    <a:pt x="135556" y="106"/>
                  </a:lnTo>
                  <a:lnTo>
                    <a:pt x="136401" y="30"/>
                  </a:lnTo>
                  <a:close/>
                </a:path>
              </a:pathLst>
            </a:cu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68265" y="2282190"/>
              <a:ext cx="2528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为什么选 Viola-Jones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6775" y="2905125"/>
              <a:ext cx="22383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它把积分图、特征工程、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76775" y="3228975"/>
              <a:ext cx="24684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AdaBoost 和 Cascade 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76775" y="3552825"/>
              <a:ext cx="2438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串成了一个完整、可解释的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6775" y="3876675"/>
              <a:ext cx="183832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经典实时检测方案。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80585" y="44615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相比黑盒模型，它更适合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80585" y="472821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课程场景下的原理学习与调试分析。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77200" y="1885950"/>
            <a:ext cx="3623310" cy="3562350"/>
            <a:chOff x="8077200" y="1885950"/>
            <a:chExt cx="3623310" cy="3562350"/>
          </a:xfrm>
        </p:grpSpPr>
        <p:sp>
          <p:nvSpPr>
            <p:cNvPr id="31" name="Rectangle 31"/>
            <p:cNvSpPr/>
            <p:nvPr/>
          </p:nvSpPr>
          <p:spPr>
            <a:xfrm>
              <a:off x="8077200" y="1885950"/>
              <a:ext cx="3295650" cy="3524250"/>
            </a:xfrm>
            <a:prstGeom prst="roundRect">
              <a:avLst>
                <a:gd name="adj" fmla="val 7514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77200" y="1885950"/>
              <a:ext cx="3295650" cy="133350"/>
            </a:xfrm>
            <a:prstGeom prst="roundRect">
              <a:avLst>
                <a:gd name="adj" fmla="val 50000"/>
              </a:avLst>
            </a:prstGeom>
            <a:solidFill>
              <a:srgbClr val="D97A5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8343000" y="2225806"/>
              <a:ext cx="314934" cy="317078"/>
            </a:xfrm>
            <a:custGeom>
              <a:avLst/>
              <a:gdLst/>
              <a:ahLst/>
              <a:cxnLst/>
              <a:rect l="l" t="t" r="r" b="b"/>
              <a:pathLst>
                <a:path w="314934" h="317078">
                  <a:moveTo>
                    <a:pt x="192988" y="30324"/>
                  </a:moveTo>
                  <a:cubicBezTo>
                    <a:pt x="223181" y="47753"/>
                    <a:pt x="244359" y="77391"/>
                    <a:pt x="251066" y="111603"/>
                  </a:cubicBezTo>
                  <a:cubicBezTo>
                    <a:pt x="257773" y="145815"/>
                    <a:pt x="249354" y="181255"/>
                    <a:pt x="227976" y="208795"/>
                  </a:cubicBezTo>
                  <a:lnTo>
                    <a:pt x="309219" y="290038"/>
                  </a:lnTo>
                  <a:cubicBezTo>
                    <a:pt x="314934" y="295955"/>
                    <a:pt x="314852" y="305362"/>
                    <a:pt x="309035" y="311179"/>
                  </a:cubicBezTo>
                  <a:cubicBezTo>
                    <a:pt x="303218" y="316996"/>
                    <a:pt x="293811" y="317078"/>
                    <a:pt x="287894" y="311363"/>
                  </a:cubicBezTo>
                  <a:lnTo>
                    <a:pt x="206636" y="230120"/>
                  </a:lnTo>
                  <a:cubicBezTo>
                    <a:pt x="158737" y="267287"/>
                    <a:pt x="90696" y="263136"/>
                    <a:pt x="47671" y="220422"/>
                  </a:cubicBezTo>
                  <a:cubicBezTo>
                    <a:pt x="4645" y="177709"/>
                    <a:pt x="0" y="109700"/>
                    <a:pt x="36818" y="61532"/>
                  </a:cubicBezTo>
                  <a:cubicBezTo>
                    <a:pt x="73635" y="13364"/>
                    <a:pt x="140480" y="0"/>
                    <a:pt x="192988" y="30308"/>
                  </a:cubicBezTo>
                </a:path>
              </a:pathLst>
            </a:custGeom>
            <a:solidFill>
              <a:srgbClr val="D97A5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97290" y="22821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项目目标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306752" y="2913221"/>
              <a:ext cx="2943558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从零实现 Viola-Jones 核心模块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06752" y="3294221"/>
              <a:ext cx="23924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在标准数据集上进行评估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06752" y="3675221"/>
              <a:ext cx="25065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与 OpenCV Haar 进行对比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6752" y="4056221"/>
              <a:ext cx="201244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4. 完成实时摄像头演示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6752" y="4437221"/>
              <a:ext cx="239249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5. 总结训练与参数优化策略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9610" y="4937760"/>
              <a:ext cx="30388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目标不是做一个能跑的 demo，而是完成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09610" y="5204460"/>
              <a:ext cx="3390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可解释、可分析、可对比的完整闭环。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42533"/>
            <a:ext cx="12192000" cy="6858000"/>
            <a:chOff x="0" y="-414667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-414667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24666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项目成果速览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36347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先看最终交付了什么，再回到算法与实验过程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5350" y="1981200"/>
            <a:ext cx="4382453" cy="3581400"/>
            <a:chOff x="895350" y="1981200"/>
            <a:chExt cx="4382453" cy="3581400"/>
          </a:xfrm>
        </p:grpSpPr>
        <p:sp>
          <p:nvSpPr>
            <p:cNvPr id="9" name="Rectangle 9"/>
            <p:cNvSpPr/>
            <p:nvPr/>
          </p:nvSpPr>
          <p:spPr>
            <a:xfrm>
              <a:off x="895350" y="1981200"/>
              <a:ext cx="3905250" cy="3581400"/>
            </a:xfrm>
            <a:prstGeom prst="roundRect">
              <a:avLst>
                <a:gd name="adj" fmla="val 7979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81100" y="23526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最终版本亮点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6330" y="2621280"/>
              <a:ext cx="1524000" cy="10487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6600" b="1" dirty="0">
                  <a:solidFill>
                    <a:srgbClr val="FFFDF9"/>
                  </a:solidFill>
                  <a:latin typeface="Georgia"/>
                  <a:ea typeface="Microsoft YaHei"/>
                  <a:cs typeface="Georgia"/>
                </a:rPr>
                <a:t>F</a:t>
              </a:r>
              <a:r>
                <a:rPr lang="en-US" altLang="zh-CN" sz="6600" b="1" dirty="0">
                  <a:solidFill>
                    <a:srgbClr val="FFFDF9"/>
                  </a:solidFill>
                  <a:latin typeface="Georgia"/>
                  <a:ea typeface="Microsoft YaHei"/>
                  <a:cs typeface="Georgia"/>
                </a:rPr>
                <a:t>1:</a:t>
              </a:r>
              <a:endParaRPr lang="zh-CN" sz="6600" b="1" dirty="0">
                <a:solidFill>
                  <a:srgbClr val="FFFDF9"/>
                </a:solidFill>
                <a:latin typeface="Georgia"/>
                <a:ea typeface="Microsoft YaHei"/>
                <a:cs typeface="Georgia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01253" y="2606694"/>
              <a:ext cx="287655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6600" b="1" dirty="0">
                  <a:solidFill>
                    <a:srgbClr val="2C8C7B"/>
                  </a:solidFill>
                  <a:latin typeface="Georgia"/>
                  <a:ea typeface="Microsoft YaHei"/>
                  <a:cs typeface="Georgia"/>
                </a:rPr>
                <a:t>1.000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9195" y="3669982"/>
              <a:ext cx="249521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LFW 测试集最终报告结果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200150" y="4133850"/>
              <a:ext cx="3295650" cy="9525"/>
            </a:xfrm>
            <a:custGeom>
              <a:avLst/>
              <a:gdLst/>
              <a:ahLst/>
              <a:cxnLst/>
              <a:rect l="l" t="t" r="r" b="b"/>
              <a:pathLst>
                <a:path w="3295650" h="9525">
                  <a:moveTo>
                    <a:pt x="0" y="0"/>
                  </a:moveTo>
                  <a:lnTo>
                    <a:pt x="329565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7B8794">
                  <a:alpha val="4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005" y="4407218"/>
              <a:ext cx="31486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自实现 v6.1 + nb=5 + min_size=100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3005" y="4712018"/>
              <a:ext cx="33557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在 LFW 上达到零漏检、零误报的报告结果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3893614" y="2328339"/>
              <a:ext cx="312197" cy="296323"/>
              <a:chOff x="3893614" y="2328339"/>
              <a:chExt cx="312197" cy="2963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105275" y="2518839"/>
                <a:ext cx="100536" cy="105823"/>
              </a:xfrm>
              <a:custGeom>
                <a:avLst/>
                <a:gdLst/>
                <a:ahLst/>
                <a:cxnLst/>
                <a:rect l="l" t="t" r="r" b="b"/>
                <a:pathLst>
                  <a:path w="100536" h="105823">
                    <a:moveTo>
                      <a:pt x="15875" y="68786"/>
                    </a:moveTo>
                    <a:cubicBezTo>
                      <a:pt x="7107" y="68786"/>
                      <a:pt x="0" y="61679"/>
                      <a:pt x="0" y="52911"/>
                    </a:cubicBezTo>
                    <a:cubicBezTo>
                      <a:pt x="0" y="44144"/>
                      <a:pt x="7107" y="37036"/>
                      <a:pt x="15875" y="37036"/>
                    </a:cubicBezTo>
                    <a:cubicBezTo>
                      <a:pt x="24643" y="37036"/>
                      <a:pt x="31750" y="29929"/>
                      <a:pt x="31750" y="21161"/>
                    </a:cubicBezTo>
                    <a:cubicBezTo>
                      <a:pt x="31750" y="0"/>
                      <a:pt x="63500" y="0"/>
                      <a:pt x="63500" y="21161"/>
                    </a:cubicBezTo>
                    <a:cubicBezTo>
                      <a:pt x="63500" y="29929"/>
                      <a:pt x="70607" y="37036"/>
                      <a:pt x="79375" y="37036"/>
                    </a:cubicBezTo>
                    <a:cubicBezTo>
                      <a:pt x="100536" y="37036"/>
                      <a:pt x="100536" y="68786"/>
                      <a:pt x="79375" y="68786"/>
                    </a:cubicBezTo>
                    <a:cubicBezTo>
                      <a:pt x="70607" y="68786"/>
                      <a:pt x="63500" y="75894"/>
                      <a:pt x="63500" y="84661"/>
                    </a:cubicBezTo>
                    <a:cubicBezTo>
                      <a:pt x="63500" y="105823"/>
                      <a:pt x="31750" y="105823"/>
                      <a:pt x="31750" y="84661"/>
                    </a:cubicBezTo>
                    <a:cubicBezTo>
                      <a:pt x="31750" y="75894"/>
                      <a:pt x="24643" y="68786"/>
                      <a:pt x="15875" y="68786"/>
                    </a:cubicBezTo>
                  </a:path>
                </a:pathLst>
              </a:custGeom>
              <a:solidFill>
                <a:srgbClr val="2C8C7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3893614" y="2360089"/>
                <a:ext cx="232823" cy="227536"/>
              </a:xfrm>
              <a:custGeom>
                <a:avLst/>
                <a:gdLst/>
                <a:ahLst/>
                <a:cxnLst/>
                <a:rect l="l" t="t" r="r" b="b"/>
                <a:pathLst>
                  <a:path w="232823" h="227536">
                    <a:moveTo>
                      <a:pt x="21161" y="100536"/>
                    </a:moveTo>
                    <a:cubicBezTo>
                      <a:pt x="64999" y="100536"/>
                      <a:pt x="100536" y="64999"/>
                      <a:pt x="100536" y="21161"/>
                    </a:cubicBezTo>
                    <a:cubicBezTo>
                      <a:pt x="100536" y="0"/>
                      <a:pt x="132286" y="0"/>
                      <a:pt x="132286" y="21161"/>
                    </a:cubicBezTo>
                    <a:cubicBezTo>
                      <a:pt x="132286" y="64999"/>
                      <a:pt x="167824" y="100536"/>
                      <a:pt x="211661" y="100536"/>
                    </a:cubicBezTo>
                    <a:cubicBezTo>
                      <a:pt x="232823" y="100536"/>
                      <a:pt x="232823" y="132286"/>
                      <a:pt x="211661" y="132286"/>
                    </a:cubicBezTo>
                    <a:cubicBezTo>
                      <a:pt x="167824" y="132286"/>
                      <a:pt x="132286" y="167824"/>
                      <a:pt x="132286" y="211661"/>
                    </a:cubicBezTo>
                    <a:cubicBezTo>
                      <a:pt x="132286" y="220429"/>
                      <a:pt x="125179" y="227536"/>
                      <a:pt x="116411" y="227536"/>
                    </a:cubicBezTo>
                    <a:cubicBezTo>
                      <a:pt x="107644" y="227536"/>
                      <a:pt x="100536" y="220429"/>
                      <a:pt x="100536" y="211661"/>
                    </a:cubicBezTo>
                    <a:cubicBezTo>
                      <a:pt x="100536" y="167824"/>
                      <a:pt x="64999" y="132286"/>
                      <a:pt x="21161" y="132286"/>
                    </a:cubicBezTo>
                    <a:cubicBezTo>
                      <a:pt x="0" y="132286"/>
                      <a:pt x="0" y="100536"/>
                      <a:pt x="21161" y="100536"/>
                    </a:cubicBezTo>
                  </a:path>
                </a:pathLst>
              </a:custGeom>
              <a:solidFill>
                <a:srgbClr val="2C8C7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105275" y="2328339"/>
                <a:ext cx="100536" cy="105823"/>
              </a:xfrm>
              <a:custGeom>
                <a:avLst/>
                <a:gdLst/>
                <a:ahLst/>
                <a:cxnLst/>
                <a:rect l="l" t="t" r="r" b="b"/>
                <a:pathLst>
                  <a:path w="100536" h="105823">
                    <a:moveTo>
                      <a:pt x="15875" y="68786"/>
                    </a:moveTo>
                    <a:cubicBezTo>
                      <a:pt x="7107" y="68786"/>
                      <a:pt x="0" y="61679"/>
                      <a:pt x="0" y="52911"/>
                    </a:cubicBezTo>
                    <a:cubicBezTo>
                      <a:pt x="0" y="44144"/>
                      <a:pt x="7107" y="37036"/>
                      <a:pt x="15875" y="37036"/>
                    </a:cubicBezTo>
                    <a:cubicBezTo>
                      <a:pt x="24643" y="37036"/>
                      <a:pt x="31750" y="29929"/>
                      <a:pt x="31750" y="21161"/>
                    </a:cubicBezTo>
                    <a:cubicBezTo>
                      <a:pt x="31750" y="0"/>
                      <a:pt x="63500" y="0"/>
                      <a:pt x="63500" y="21161"/>
                    </a:cubicBezTo>
                    <a:cubicBezTo>
                      <a:pt x="63500" y="29929"/>
                      <a:pt x="70607" y="37036"/>
                      <a:pt x="79375" y="37036"/>
                    </a:cubicBezTo>
                    <a:cubicBezTo>
                      <a:pt x="100536" y="37036"/>
                      <a:pt x="100536" y="68786"/>
                      <a:pt x="79375" y="68786"/>
                    </a:cubicBezTo>
                    <a:cubicBezTo>
                      <a:pt x="70607" y="68786"/>
                      <a:pt x="63500" y="75894"/>
                      <a:pt x="63500" y="84661"/>
                    </a:cubicBezTo>
                    <a:cubicBezTo>
                      <a:pt x="63500" y="105823"/>
                      <a:pt x="31750" y="105823"/>
                      <a:pt x="31750" y="84661"/>
                    </a:cubicBezTo>
                    <a:cubicBezTo>
                      <a:pt x="31750" y="75894"/>
                      <a:pt x="24643" y="68786"/>
                      <a:pt x="15875" y="68786"/>
                    </a:cubicBezTo>
                  </a:path>
                </a:pathLst>
              </a:custGeom>
              <a:solidFill>
                <a:srgbClr val="2C8C7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5143500" y="1981200"/>
            <a:ext cx="6912626" cy="3581400"/>
            <a:chOff x="5143500" y="1981200"/>
            <a:chExt cx="6912626" cy="3581400"/>
          </a:xfrm>
        </p:grpSpPr>
        <p:sp>
          <p:nvSpPr>
            <p:cNvPr id="22" name="Rectangle 22"/>
            <p:cNvSpPr/>
            <p:nvPr/>
          </p:nvSpPr>
          <p:spPr>
            <a:xfrm>
              <a:off x="5143500" y="1981200"/>
              <a:ext cx="2876550" cy="1676400"/>
            </a:xfrm>
            <a:prstGeom prst="roundRect">
              <a:avLst>
                <a:gd name="adj" fmla="val 13636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468269" y="2326481"/>
              <a:ext cx="246261" cy="243355"/>
            </a:xfrm>
            <a:custGeom>
              <a:avLst/>
              <a:gdLst/>
              <a:ahLst/>
              <a:cxnLst/>
              <a:rect l="l" t="t" r="r" b="b"/>
              <a:pathLst>
                <a:path w="246261" h="243355">
                  <a:moveTo>
                    <a:pt x="242920" y="169387"/>
                  </a:moveTo>
                  <a:cubicBezTo>
                    <a:pt x="246247" y="176050"/>
                    <a:pt x="243548" y="184148"/>
                    <a:pt x="236888" y="187482"/>
                  </a:cubicBezTo>
                  <a:lnTo>
                    <a:pt x="128938" y="241457"/>
                  </a:lnTo>
                  <a:cubicBezTo>
                    <a:pt x="125141" y="243355"/>
                    <a:pt x="120672" y="243355"/>
                    <a:pt x="116875" y="241457"/>
                  </a:cubicBezTo>
                  <a:lnTo>
                    <a:pt x="8925" y="187482"/>
                  </a:lnTo>
                  <a:cubicBezTo>
                    <a:pt x="2508" y="184022"/>
                    <a:pt x="0" y="176091"/>
                    <a:pt x="3260" y="169571"/>
                  </a:cubicBezTo>
                  <a:cubicBezTo>
                    <a:pt x="6520" y="163050"/>
                    <a:pt x="14370" y="160298"/>
                    <a:pt x="20988" y="163355"/>
                  </a:cubicBezTo>
                  <a:lnTo>
                    <a:pt x="122906" y="214281"/>
                  </a:lnTo>
                  <a:lnTo>
                    <a:pt x="224838" y="163342"/>
                  </a:lnTo>
                  <a:cubicBezTo>
                    <a:pt x="231501" y="160014"/>
                    <a:pt x="239600" y="162714"/>
                    <a:pt x="242933" y="169374"/>
                  </a:cubicBezTo>
                  <a:moveTo>
                    <a:pt x="242933" y="115399"/>
                  </a:moveTo>
                  <a:cubicBezTo>
                    <a:pt x="246261" y="122061"/>
                    <a:pt x="243561" y="130160"/>
                    <a:pt x="236902" y="133494"/>
                  </a:cubicBezTo>
                  <a:lnTo>
                    <a:pt x="128952" y="187469"/>
                  </a:lnTo>
                  <a:cubicBezTo>
                    <a:pt x="125154" y="189366"/>
                    <a:pt x="120685" y="189366"/>
                    <a:pt x="116888" y="187469"/>
                  </a:cubicBezTo>
                  <a:lnTo>
                    <a:pt x="8938" y="133494"/>
                  </a:lnTo>
                  <a:cubicBezTo>
                    <a:pt x="2522" y="130034"/>
                    <a:pt x="13" y="122103"/>
                    <a:pt x="3274" y="115582"/>
                  </a:cubicBezTo>
                  <a:cubicBezTo>
                    <a:pt x="6534" y="109062"/>
                    <a:pt x="14384" y="106310"/>
                    <a:pt x="21002" y="109367"/>
                  </a:cubicBezTo>
                  <a:lnTo>
                    <a:pt x="122906" y="160306"/>
                  </a:lnTo>
                  <a:lnTo>
                    <a:pt x="224838" y="109367"/>
                  </a:lnTo>
                  <a:cubicBezTo>
                    <a:pt x="231501" y="106039"/>
                    <a:pt x="239600" y="108739"/>
                    <a:pt x="242933" y="115399"/>
                  </a:cubicBezTo>
                  <a:moveTo>
                    <a:pt x="123014" y="0"/>
                  </a:moveTo>
                  <a:cubicBezTo>
                    <a:pt x="123518" y="0"/>
                    <a:pt x="124017" y="31"/>
                    <a:pt x="124512" y="94"/>
                  </a:cubicBezTo>
                  <a:lnTo>
                    <a:pt x="126010" y="364"/>
                  </a:lnTo>
                  <a:lnTo>
                    <a:pt x="127170" y="688"/>
                  </a:lnTo>
                  <a:lnTo>
                    <a:pt x="127332" y="769"/>
                  </a:lnTo>
                  <a:lnTo>
                    <a:pt x="127494" y="796"/>
                  </a:lnTo>
                  <a:lnTo>
                    <a:pt x="127886" y="985"/>
                  </a:lnTo>
                  <a:lnTo>
                    <a:pt x="128560" y="1241"/>
                  </a:lnTo>
                  <a:lnTo>
                    <a:pt x="128776" y="1363"/>
                  </a:lnTo>
                  <a:lnTo>
                    <a:pt x="128938" y="1430"/>
                  </a:lnTo>
                  <a:lnTo>
                    <a:pt x="236888" y="55405"/>
                  </a:lnTo>
                  <a:cubicBezTo>
                    <a:pt x="241453" y="57693"/>
                    <a:pt x="244336" y="62362"/>
                    <a:pt x="244336" y="67469"/>
                  </a:cubicBezTo>
                  <a:cubicBezTo>
                    <a:pt x="244336" y="72575"/>
                    <a:pt x="241453" y="77244"/>
                    <a:pt x="236888" y="79532"/>
                  </a:cubicBezTo>
                  <a:lnTo>
                    <a:pt x="128938" y="133507"/>
                  </a:lnTo>
                  <a:cubicBezTo>
                    <a:pt x="125141" y="135405"/>
                    <a:pt x="120672" y="135405"/>
                    <a:pt x="116875" y="133507"/>
                  </a:cubicBezTo>
                  <a:lnTo>
                    <a:pt x="8925" y="79532"/>
                  </a:lnTo>
                  <a:cubicBezTo>
                    <a:pt x="4360" y="77244"/>
                    <a:pt x="1477" y="72575"/>
                    <a:pt x="1477" y="67469"/>
                  </a:cubicBezTo>
                  <a:cubicBezTo>
                    <a:pt x="1477" y="62362"/>
                    <a:pt x="4360" y="57693"/>
                    <a:pt x="8925" y="55405"/>
                  </a:cubicBezTo>
                  <a:lnTo>
                    <a:pt x="116875" y="1430"/>
                  </a:lnTo>
                  <a:lnTo>
                    <a:pt x="117023" y="1363"/>
                  </a:lnTo>
                  <a:lnTo>
                    <a:pt x="117266" y="1228"/>
                  </a:lnTo>
                  <a:lnTo>
                    <a:pt x="118319" y="796"/>
                  </a:lnTo>
                  <a:lnTo>
                    <a:pt x="118467" y="769"/>
                  </a:lnTo>
                  <a:lnTo>
                    <a:pt x="118642" y="688"/>
                  </a:lnTo>
                  <a:lnTo>
                    <a:pt x="119803" y="364"/>
                  </a:lnTo>
                  <a:lnTo>
                    <a:pt x="121287" y="94"/>
                  </a:lnTo>
                  <a:lnTo>
                    <a:pt x="122043" y="27"/>
                  </a:lnTo>
                  <a:close/>
                </a:path>
              </a:pathLst>
            </a:cu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64542" y="23474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完整算法链路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12105" y="2845118"/>
              <a:ext cx="2149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积分图、Haar-like 特征、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12105" y="3149918"/>
              <a:ext cx="24195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AdaBoost、Cascade、滑窗、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412105" y="3454718"/>
              <a:ext cx="25816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NMS 与自定义后处理全部落地。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05800" y="1981200"/>
              <a:ext cx="2876550" cy="1676400"/>
            </a:xfrm>
            <a:prstGeom prst="roundRect">
              <a:avLst>
                <a:gd name="adj" fmla="val 13636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631651" y="2351789"/>
              <a:ext cx="243648" cy="204086"/>
              <a:chOff x="8631651" y="2351789"/>
              <a:chExt cx="243648" cy="20408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631651" y="2528888"/>
                <a:ext cx="24364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43648" h="26987">
                    <a:moveTo>
                      <a:pt x="229774" y="0"/>
                    </a:moveTo>
                    <a:cubicBezTo>
                      <a:pt x="236913" y="8"/>
                      <a:pt x="242811" y="5576"/>
                      <a:pt x="243230" y="12703"/>
                    </a:cubicBezTo>
                    <a:cubicBezTo>
                      <a:pt x="243648" y="19830"/>
                      <a:pt x="238442" y="26050"/>
                      <a:pt x="231353" y="26893"/>
                    </a:cubicBezTo>
                    <a:lnTo>
                      <a:pt x="229774" y="26987"/>
                    </a:lnTo>
                    <a:lnTo>
                      <a:pt x="13874" y="26987"/>
                    </a:lnTo>
                    <a:cubicBezTo>
                      <a:pt x="6735" y="26980"/>
                      <a:pt x="837" y="21412"/>
                      <a:pt x="418" y="14285"/>
                    </a:cubicBezTo>
                    <a:cubicBezTo>
                      <a:pt x="0" y="7157"/>
                      <a:pt x="5206" y="938"/>
                      <a:pt x="12295" y="94"/>
                    </a:cubicBezTo>
                    <a:lnTo>
                      <a:pt x="13874" y="0"/>
                    </a:lnTo>
                    <a:lnTo>
                      <a:pt x="229774" y="0"/>
                    </a:lnTo>
                    <a:close/>
                  </a:path>
                </a:pathLst>
              </a:custGeom>
              <a:solidFill>
                <a:srgbClr val="2C8C7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8632031" y="2351789"/>
                <a:ext cx="242888" cy="150111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50111">
                    <a:moveTo>
                      <a:pt x="164894" y="6740"/>
                    </a:moveTo>
                    <a:cubicBezTo>
                      <a:pt x="169501" y="991"/>
                      <a:pt x="177868" y="0"/>
                      <a:pt x="183690" y="4514"/>
                    </a:cubicBezTo>
                    <a:lnTo>
                      <a:pt x="184959" y="5634"/>
                    </a:lnTo>
                    <a:lnTo>
                      <a:pt x="238934" y="59609"/>
                    </a:lnTo>
                    <a:cubicBezTo>
                      <a:pt x="241031" y="61708"/>
                      <a:pt x="242378" y="64439"/>
                      <a:pt x="242766" y="67381"/>
                    </a:cubicBezTo>
                    <a:lnTo>
                      <a:pt x="242888" y="69149"/>
                    </a:lnTo>
                    <a:lnTo>
                      <a:pt x="242888" y="136617"/>
                    </a:lnTo>
                    <a:cubicBezTo>
                      <a:pt x="242887" y="143458"/>
                      <a:pt x="237767" y="149216"/>
                      <a:pt x="230973" y="150017"/>
                    </a:cubicBezTo>
                    <a:lnTo>
                      <a:pt x="229394" y="150111"/>
                    </a:lnTo>
                    <a:lnTo>
                      <a:pt x="13197" y="150111"/>
                    </a:lnTo>
                    <a:lnTo>
                      <a:pt x="11713" y="149990"/>
                    </a:lnTo>
                    <a:lnTo>
                      <a:pt x="10228" y="149720"/>
                    </a:lnTo>
                    <a:lnTo>
                      <a:pt x="8784" y="149261"/>
                    </a:lnTo>
                    <a:lnTo>
                      <a:pt x="7368" y="148640"/>
                    </a:lnTo>
                    <a:lnTo>
                      <a:pt x="6018" y="147844"/>
                    </a:lnTo>
                    <a:lnTo>
                      <a:pt x="4750" y="146900"/>
                    </a:lnTo>
                    <a:lnTo>
                      <a:pt x="3940" y="146158"/>
                    </a:lnTo>
                    <a:lnTo>
                      <a:pt x="2969" y="145051"/>
                    </a:lnTo>
                    <a:lnTo>
                      <a:pt x="2105" y="143850"/>
                    </a:lnTo>
                    <a:lnTo>
                      <a:pt x="1376" y="142555"/>
                    </a:lnTo>
                    <a:lnTo>
                      <a:pt x="1160" y="142082"/>
                    </a:lnTo>
                    <a:lnTo>
                      <a:pt x="621" y="140693"/>
                    </a:lnTo>
                    <a:lnTo>
                      <a:pt x="256" y="139262"/>
                    </a:lnTo>
                    <a:lnTo>
                      <a:pt x="54" y="137805"/>
                    </a:lnTo>
                    <a:lnTo>
                      <a:pt x="0" y="136321"/>
                    </a:lnTo>
                    <a:lnTo>
                      <a:pt x="121" y="134836"/>
                    </a:lnTo>
                    <a:lnTo>
                      <a:pt x="378" y="133419"/>
                    </a:lnTo>
                    <a:cubicBezTo>
                      <a:pt x="513" y="132880"/>
                      <a:pt x="675" y="132380"/>
                      <a:pt x="850" y="131908"/>
                    </a:cubicBezTo>
                    <a:lnTo>
                      <a:pt x="1471" y="130491"/>
                    </a:lnTo>
                    <a:lnTo>
                      <a:pt x="2267" y="129142"/>
                    </a:lnTo>
                    <a:lnTo>
                      <a:pt x="56242" y="48179"/>
                    </a:lnTo>
                    <a:cubicBezTo>
                      <a:pt x="59660" y="43034"/>
                      <a:pt x="66135" y="40866"/>
                      <a:pt x="71962" y="42917"/>
                    </a:cubicBezTo>
                    <a:lnTo>
                      <a:pt x="73500" y="43592"/>
                    </a:lnTo>
                    <a:lnTo>
                      <a:pt x="117719" y="65694"/>
                    </a:lnTo>
                    <a:lnTo>
                      <a:pt x="164880" y="6740"/>
                    </a:lnTo>
                    <a:close/>
                  </a:path>
                </a:pathLst>
              </a:custGeom>
              <a:solidFill>
                <a:srgbClr val="2C8C7B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9026842" y="23474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定量实验对比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74405" y="284511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使用 LFW 与 Caltech 场景进行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74405" y="3149918"/>
              <a:ext cx="24825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评估，并与 OpenCV Haar 基线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74405" y="345471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进行可复核的指标对比。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143500" y="3886200"/>
              <a:ext cx="2876550" cy="1676400"/>
            </a:xfrm>
            <a:prstGeom prst="roundRect">
              <a:avLst>
                <a:gd name="adj" fmla="val 13636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5456236" y="4231477"/>
              <a:ext cx="269877" cy="242893"/>
            </a:xfrm>
            <a:custGeom>
              <a:avLst/>
              <a:gdLst/>
              <a:ahLst/>
              <a:cxnLst/>
              <a:rect l="l" t="t" r="r" b="b"/>
              <a:pathLst>
                <a:path w="269877" h="242893">
                  <a:moveTo>
                    <a:pt x="175420" y="4"/>
                  </a:moveTo>
                  <a:cubicBezTo>
                    <a:pt x="189543" y="0"/>
                    <a:pt x="201281" y="10885"/>
                    <a:pt x="202340" y="24968"/>
                  </a:cubicBezTo>
                  <a:lnTo>
                    <a:pt x="202407" y="26992"/>
                  </a:lnTo>
                  <a:cubicBezTo>
                    <a:pt x="202408" y="33833"/>
                    <a:pt x="207528" y="39591"/>
                    <a:pt x="214322" y="40391"/>
                  </a:cubicBezTo>
                  <a:lnTo>
                    <a:pt x="215901" y="40486"/>
                  </a:lnTo>
                  <a:lnTo>
                    <a:pt x="229395" y="40486"/>
                  </a:lnTo>
                  <a:cubicBezTo>
                    <a:pt x="250831" y="40485"/>
                    <a:pt x="268551" y="57193"/>
                    <a:pt x="269809" y="78592"/>
                  </a:cubicBezTo>
                  <a:lnTo>
                    <a:pt x="269876" y="80967"/>
                  </a:lnTo>
                  <a:lnTo>
                    <a:pt x="269876" y="202411"/>
                  </a:lnTo>
                  <a:cubicBezTo>
                    <a:pt x="269877" y="223846"/>
                    <a:pt x="253169" y="241567"/>
                    <a:pt x="231770" y="242825"/>
                  </a:cubicBezTo>
                  <a:lnTo>
                    <a:pt x="229395" y="242892"/>
                  </a:lnTo>
                  <a:lnTo>
                    <a:pt x="40482" y="242892"/>
                  </a:lnTo>
                  <a:cubicBezTo>
                    <a:pt x="19047" y="242893"/>
                    <a:pt x="1326" y="226184"/>
                    <a:pt x="69" y="204786"/>
                  </a:cubicBezTo>
                  <a:lnTo>
                    <a:pt x="1" y="202411"/>
                  </a:lnTo>
                  <a:lnTo>
                    <a:pt x="1" y="80967"/>
                  </a:lnTo>
                  <a:cubicBezTo>
                    <a:pt x="0" y="59531"/>
                    <a:pt x="16709" y="41811"/>
                    <a:pt x="38108" y="40553"/>
                  </a:cubicBezTo>
                  <a:lnTo>
                    <a:pt x="40482" y="40486"/>
                  </a:lnTo>
                  <a:lnTo>
                    <a:pt x="53976" y="40486"/>
                  </a:lnTo>
                  <a:cubicBezTo>
                    <a:pt x="61429" y="40486"/>
                    <a:pt x="67470" y="34444"/>
                    <a:pt x="67470" y="26992"/>
                  </a:cubicBezTo>
                  <a:cubicBezTo>
                    <a:pt x="67465" y="12869"/>
                    <a:pt x="78350" y="1131"/>
                    <a:pt x="92433" y="72"/>
                  </a:cubicBezTo>
                  <a:lnTo>
                    <a:pt x="94457" y="4"/>
                  </a:lnTo>
                  <a:lnTo>
                    <a:pt x="175420" y="4"/>
                  </a:lnTo>
                  <a:close/>
                  <a:moveTo>
                    <a:pt x="134939" y="94461"/>
                  </a:moveTo>
                  <a:cubicBezTo>
                    <a:pt x="114158" y="94459"/>
                    <a:pt x="96752" y="110192"/>
                    <a:pt x="94660" y="130867"/>
                  </a:cubicBezTo>
                  <a:lnTo>
                    <a:pt x="94511" y="132918"/>
                  </a:lnTo>
                  <a:lnTo>
                    <a:pt x="94457" y="134942"/>
                  </a:lnTo>
                  <a:lnTo>
                    <a:pt x="94511" y="136966"/>
                  </a:lnTo>
                  <a:cubicBezTo>
                    <a:pt x="95616" y="159033"/>
                    <a:pt x="114211" y="176138"/>
                    <a:pt x="136293" y="175401"/>
                  </a:cubicBezTo>
                  <a:cubicBezTo>
                    <a:pt x="158375" y="174663"/>
                    <a:pt x="175787" y="156356"/>
                    <a:pt x="175418" y="134265"/>
                  </a:cubicBezTo>
                  <a:cubicBezTo>
                    <a:pt x="175048" y="112173"/>
                    <a:pt x="157033" y="94459"/>
                    <a:pt x="134939" y="94461"/>
                  </a:cubicBezTo>
                  <a:close/>
                </a:path>
              </a:pathLst>
            </a:custGeom>
            <a:solidFill>
              <a:srgbClr val="D97A5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64542" y="4252436"/>
              <a:ext cx="149299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实时演示系统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12105" y="4750118"/>
              <a:ext cx="273462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支持双屏对比展示、多人脸平滑、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2105" y="50549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录制与参数调试，具备答辩可展示性。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305800" y="3886200"/>
              <a:ext cx="2876550" cy="1676400"/>
            </a:xfrm>
            <a:prstGeom prst="roundRect">
              <a:avLst>
                <a:gd name="adj" fmla="val 13636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8632031" y="4231481"/>
              <a:ext cx="242888" cy="242882"/>
            </a:xfrm>
            <a:custGeom>
              <a:avLst/>
              <a:gdLst/>
              <a:ahLst/>
              <a:cxnLst/>
              <a:rect l="l" t="t" r="r" b="b"/>
              <a:pathLst>
                <a:path w="242888" h="242882">
                  <a:moveTo>
                    <a:pt x="188913" y="161925"/>
                  </a:moveTo>
                  <a:cubicBezTo>
                    <a:pt x="206535" y="161925"/>
                    <a:pt x="221540" y="173192"/>
                    <a:pt x="227100" y="188912"/>
                  </a:cubicBezTo>
                  <a:lnTo>
                    <a:pt x="229394" y="188912"/>
                  </a:lnTo>
                  <a:cubicBezTo>
                    <a:pt x="236846" y="188912"/>
                    <a:pt x="242888" y="194954"/>
                    <a:pt x="242888" y="202406"/>
                  </a:cubicBezTo>
                  <a:cubicBezTo>
                    <a:pt x="242888" y="209859"/>
                    <a:pt x="236846" y="215900"/>
                    <a:pt x="229394" y="215900"/>
                  </a:cubicBezTo>
                  <a:lnTo>
                    <a:pt x="227086" y="215900"/>
                  </a:lnTo>
                  <a:cubicBezTo>
                    <a:pt x="221362" y="232072"/>
                    <a:pt x="206068" y="242882"/>
                    <a:pt x="188913" y="242882"/>
                  </a:cubicBezTo>
                  <a:cubicBezTo>
                    <a:pt x="171757" y="242882"/>
                    <a:pt x="156463" y="232072"/>
                    <a:pt x="150739" y="215900"/>
                  </a:cubicBezTo>
                  <a:lnTo>
                    <a:pt x="13494" y="215900"/>
                  </a:lnTo>
                  <a:cubicBezTo>
                    <a:pt x="6041" y="215900"/>
                    <a:pt x="0" y="209859"/>
                    <a:pt x="0" y="202406"/>
                  </a:cubicBezTo>
                  <a:cubicBezTo>
                    <a:pt x="0" y="194954"/>
                    <a:pt x="6041" y="188912"/>
                    <a:pt x="13494" y="188912"/>
                  </a:cubicBezTo>
                  <a:lnTo>
                    <a:pt x="150766" y="188912"/>
                  </a:lnTo>
                  <a:cubicBezTo>
                    <a:pt x="156298" y="173192"/>
                    <a:pt x="171276" y="161925"/>
                    <a:pt x="188913" y="161925"/>
                  </a:cubicBezTo>
                  <a:moveTo>
                    <a:pt x="67469" y="80962"/>
                  </a:moveTo>
                  <a:cubicBezTo>
                    <a:pt x="85092" y="80962"/>
                    <a:pt x="100097" y="92230"/>
                    <a:pt x="105656" y="107950"/>
                  </a:cubicBezTo>
                  <a:lnTo>
                    <a:pt x="229394" y="107950"/>
                  </a:lnTo>
                  <a:cubicBezTo>
                    <a:pt x="236846" y="107950"/>
                    <a:pt x="242888" y="113991"/>
                    <a:pt x="242888" y="121444"/>
                  </a:cubicBezTo>
                  <a:cubicBezTo>
                    <a:pt x="242888" y="128896"/>
                    <a:pt x="236846" y="134938"/>
                    <a:pt x="229394" y="134938"/>
                  </a:cubicBezTo>
                  <a:lnTo>
                    <a:pt x="105643" y="134938"/>
                  </a:lnTo>
                  <a:cubicBezTo>
                    <a:pt x="99918" y="151110"/>
                    <a:pt x="84624" y="161920"/>
                    <a:pt x="67469" y="161920"/>
                  </a:cubicBezTo>
                  <a:cubicBezTo>
                    <a:pt x="50313" y="161920"/>
                    <a:pt x="35019" y="151110"/>
                    <a:pt x="29295" y="134938"/>
                  </a:cubicBezTo>
                  <a:lnTo>
                    <a:pt x="13494" y="134938"/>
                  </a:lnTo>
                  <a:cubicBezTo>
                    <a:pt x="6041" y="134938"/>
                    <a:pt x="0" y="128896"/>
                    <a:pt x="0" y="121444"/>
                  </a:cubicBezTo>
                  <a:cubicBezTo>
                    <a:pt x="0" y="113991"/>
                    <a:pt x="6041" y="107950"/>
                    <a:pt x="13494" y="107950"/>
                  </a:cubicBezTo>
                  <a:lnTo>
                    <a:pt x="29322" y="107950"/>
                  </a:lnTo>
                  <a:cubicBezTo>
                    <a:pt x="34854" y="92230"/>
                    <a:pt x="49832" y="80962"/>
                    <a:pt x="67469" y="80962"/>
                  </a:cubicBezTo>
                  <a:moveTo>
                    <a:pt x="148431" y="0"/>
                  </a:moveTo>
                  <a:cubicBezTo>
                    <a:pt x="166054" y="0"/>
                    <a:pt x="181059" y="11267"/>
                    <a:pt x="186619" y="26987"/>
                  </a:cubicBezTo>
                  <a:lnTo>
                    <a:pt x="229394" y="26987"/>
                  </a:lnTo>
                  <a:cubicBezTo>
                    <a:pt x="236846" y="26987"/>
                    <a:pt x="242888" y="33029"/>
                    <a:pt x="242888" y="40481"/>
                  </a:cubicBezTo>
                  <a:cubicBezTo>
                    <a:pt x="242888" y="47934"/>
                    <a:pt x="236846" y="53975"/>
                    <a:pt x="229394" y="53975"/>
                  </a:cubicBezTo>
                  <a:lnTo>
                    <a:pt x="186605" y="53975"/>
                  </a:lnTo>
                  <a:cubicBezTo>
                    <a:pt x="180881" y="70147"/>
                    <a:pt x="165587" y="80957"/>
                    <a:pt x="148431" y="80957"/>
                  </a:cubicBezTo>
                  <a:cubicBezTo>
                    <a:pt x="131276" y="80957"/>
                    <a:pt x="115982" y="70147"/>
                    <a:pt x="110257" y="53975"/>
                  </a:cubicBezTo>
                  <a:lnTo>
                    <a:pt x="13494" y="53975"/>
                  </a:lnTo>
                  <a:cubicBezTo>
                    <a:pt x="6041" y="53975"/>
                    <a:pt x="0" y="47934"/>
                    <a:pt x="0" y="40481"/>
                  </a:cubicBezTo>
                  <a:cubicBezTo>
                    <a:pt x="0" y="33029"/>
                    <a:pt x="6041" y="26987"/>
                    <a:pt x="13494" y="26987"/>
                  </a:cubicBezTo>
                  <a:lnTo>
                    <a:pt x="110284" y="26987"/>
                  </a:lnTo>
                  <a:cubicBezTo>
                    <a:pt x="115817" y="11267"/>
                    <a:pt x="130795" y="0"/>
                    <a:pt x="148431" y="0"/>
                  </a:cubicBezTo>
                </a:path>
              </a:pathLst>
            </a:cu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26842" y="42524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优化与反思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74405" y="4750118"/>
              <a:ext cx="2599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系统化调优 `min_neighbors`、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574405" y="5054918"/>
              <a:ext cx="34817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`score_threshold`、CLAHE 与数据增强。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0633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2647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系统整体方案总览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训练、评估与演示围绕同一检测器形成闭环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5350" y="1962150"/>
            <a:ext cx="3724370" cy="3991508"/>
            <a:chOff x="895350" y="1962150"/>
            <a:chExt cx="3724370" cy="3900488"/>
          </a:xfrm>
        </p:grpSpPr>
        <p:sp>
          <p:nvSpPr>
            <p:cNvPr id="9" name="Rectangle 9"/>
            <p:cNvSpPr/>
            <p:nvPr/>
          </p:nvSpPr>
          <p:spPr>
            <a:xfrm>
              <a:off x="895350" y="1962150"/>
              <a:ext cx="3048000" cy="3991508"/>
            </a:xfrm>
            <a:prstGeom prst="roundRect">
              <a:avLst>
                <a:gd name="adj" fmla="val 875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2059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闭环结构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200150" y="2590800"/>
              <a:ext cx="2438400" cy="9525"/>
            </a:xfrm>
            <a:custGeom>
              <a:avLst/>
              <a:gdLst/>
              <a:ahLst/>
              <a:cxnLst/>
              <a:rect l="l" t="t" r="r" b="b"/>
              <a:pathLst>
                <a:path w="2438400" h="9525">
                  <a:moveTo>
                    <a:pt x="0" y="0"/>
                  </a:moveTo>
                  <a:lnTo>
                    <a:pt x="24384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7B8794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3005" y="2902268"/>
              <a:ext cx="9614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01 数据准备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188018"/>
              <a:ext cx="3480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WIDER FACE 裁切与负样本构建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702368"/>
              <a:ext cx="10064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02 模型训练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005" y="3988118"/>
              <a:ext cx="3480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AdaBoost + Cascade 逐版迭代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3005" y="4502468"/>
              <a:ext cx="10064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03 定量评估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3005" y="4788218"/>
              <a:ext cx="3600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LFW / Caltech 对比与参数消融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5302568"/>
              <a:ext cx="10064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04 实时演示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83005" y="5588318"/>
              <a:ext cx="3200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双屏对比、平滑跟踪与录制</a:t>
              </a:r>
            </a:p>
          </p:txBody>
        </p:sp>
      </p:grpSp>
      <p:sp>
        <p:nvSpPr>
          <p:cNvPr id="21" name="Rectangle 21"/>
          <p:cNvSpPr/>
          <p:nvPr/>
        </p:nvSpPr>
        <p:spPr>
          <a:xfrm>
            <a:off x="4248150" y="1962150"/>
            <a:ext cx="7048500" cy="3771900"/>
          </a:xfrm>
          <a:prstGeom prst="roundRect">
            <a:avLst>
              <a:gd name="adj" fmla="val 6061"/>
            </a:avLst>
          </a:prstGeom>
          <a:solidFill>
            <a:srgbClr val="FFFDF9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26" name="Group 26"/>
          <p:cNvGrpSpPr/>
          <p:nvPr/>
        </p:nvGrpSpPr>
        <p:grpSpPr>
          <a:xfrm>
            <a:off x="895350" y="5905500"/>
            <a:ext cx="10401300" cy="295275"/>
            <a:chOff x="895350" y="5905500"/>
            <a:chExt cx="10401300" cy="295275"/>
          </a:xfrm>
        </p:grpSpPr>
        <p:sp>
          <p:nvSpPr>
            <p:cNvPr id="24" name="Rectangle 24"/>
            <p:cNvSpPr/>
            <p:nvPr/>
          </p:nvSpPr>
          <p:spPr>
            <a:xfrm>
              <a:off x="895350" y="5905500"/>
              <a:ext cx="10401300" cy="247650"/>
            </a:xfrm>
            <a:prstGeom prst="roundRect">
              <a:avLst>
                <a:gd name="adj" fmla="val 50000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50000" y="5956935"/>
              <a:ext cx="7350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1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同一套自实现检测器贯穿训练、评估与演示，形成课程项目闭环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3C92173-790A-8E44-2AC4-E4B2C8432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660" y="2012632"/>
            <a:ext cx="6118225" cy="367093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400303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Viola-Jones 核心流程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38147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先看整体链路，再拆开理解每个算法模块的作用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2571750"/>
            <a:ext cx="1562100" cy="1123950"/>
            <a:chOff x="1028700" y="2571750"/>
            <a:chExt cx="1562100" cy="1123950"/>
          </a:xfrm>
        </p:grpSpPr>
        <p:sp>
          <p:nvSpPr>
            <p:cNvPr id="9" name="Rectangle 9"/>
            <p:cNvSpPr/>
            <p:nvPr/>
          </p:nvSpPr>
          <p:spPr>
            <a:xfrm>
              <a:off x="1028700" y="2571750"/>
              <a:ext cx="1562100" cy="1123950"/>
            </a:xfrm>
            <a:prstGeom prst="roundRect">
              <a:avLst>
                <a:gd name="adj" fmla="val 20339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6737" y="29175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输入图像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2438" y="326136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灰度化 / 标准化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048000" y="2571750"/>
            <a:ext cx="1676400" cy="1123950"/>
            <a:chOff x="3048000" y="2571750"/>
            <a:chExt cx="16764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3048000" y="2571750"/>
              <a:ext cx="1676400" cy="1123950"/>
            </a:xfrm>
            <a:prstGeom prst="roundRect">
              <a:avLst>
                <a:gd name="adj" fmla="val 20339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5406" y="2925604"/>
              <a:ext cx="701588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7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积分图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94875" y="3261360"/>
              <a:ext cx="13826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O(1) 矩形区域求和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62550" y="2571750"/>
            <a:ext cx="1676400" cy="1123950"/>
            <a:chOff x="5162550" y="2571750"/>
            <a:chExt cx="1676400" cy="1123950"/>
          </a:xfrm>
        </p:grpSpPr>
        <p:sp>
          <p:nvSpPr>
            <p:cNvPr id="17" name="Rectangle 17"/>
            <p:cNvSpPr/>
            <p:nvPr/>
          </p:nvSpPr>
          <p:spPr>
            <a:xfrm>
              <a:off x="5162550" y="2571750"/>
              <a:ext cx="1676400" cy="1123950"/>
            </a:xfrm>
            <a:prstGeom prst="roundRect">
              <a:avLst>
                <a:gd name="adj" fmla="val 20339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90074" y="2839879"/>
              <a:ext cx="102135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7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Haar-like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495587" y="3116104"/>
              <a:ext cx="10103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7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Features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86388" y="34218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125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亮暗结构差异建模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77100" y="2571750"/>
            <a:ext cx="1676400" cy="1123950"/>
            <a:chOff x="7277100" y="2571750"/>
            <a:chExt cx="1676400" cy="1123950"/>
          </a:xfrm>
        </p:grpSpPr>
        <p:sp>
          <p:nvSpPr>
            <p:cNvPr id="22" name="Rectangle 22"/>
            <p:cNvSpPr/>
            <p:nvPr/>
          </p:nvSpPr>
          <p:spPr>
            <a:xfrm>
              <a:off x="7277100" y="2571750"/>
              <a:ext cx="1676400" cy="1123950"/>
            </a:xfrm>
            <a:prstGeom prst="roundRect">
              <a:avLst>
                <a:gd name="adj" fmla="val 20339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10137" y="2925604"/>
              <a:ext cx="10103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7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AdaBoost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79970" y="32613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特征选择与加权组合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91650" y="2571750"/>
            <a:ext cx="1676400" cy="1123950"/>
            <a:chOff x="9391650" y="2571750"/>
            <a:chExt cx="1676400" cy="1123950"/>
          </a:xfrm>
        </p:grpSpPr>
        <p:sp>
          <p:nvSpPr>
            <p:cNvPr id="26" name="Rectangle 26"/>
            <p:cNvSpPr/>
            <p:nvPr/>
          </p:nvSpPr>
          <p:spPr>
            <a:xfrm>
              <a:off x="9391650" y="2571750"/>
              <a:ext cx="1676400" cy="1123950"/>
            </a:xfrm>
            <a:prstGeom prst="roundRect">
              <a:avLst>
                <a:gd name="adj" fmla="val 20339"/>
              </a:avLst>
            </a:prstGeom>
            <a:solidFill>
              <a:srgbClr val="2C8C7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785332" y="2925604"/>
              <a:ext cx="88903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75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Cascade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94520" y="32613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dirty="0">
                  <a:solidFill>
                    <a:srgbClr val="DFF3EE"/>
                  </a:solidFill>
                  <a:latin typeface="Arial"/>
                  <a:ea typeface="Microsoft YaHei"/>
                  <a:cs typeface="Arial"/>
                </a:rPr>
                <a:t>逐级筛除非人脸窗口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2590800" y="3133725"/>
            <a:ext cx="6800850" cy="9525"/>
            <a:chOff x="2590800" y="3133725"/>
            <a:chExt cx="6800850" cy="9525"/>
          </a:xfrm>
        </p:grpSpPr>
        <p:sp>
          <p:nvSpPr>
            <p:cNvPr id="30" name="Line 30"/>
            <p:cNvSpPr/>
            <p:nvPr/>
          </p:nvSpPr>
          <p:spPr>
            <a:xfrm>
              <a:off x="2590800" y="3133725"/>
              <a:ext cx="457200" cy="9525"/>
            </a:xfrm>
            <a:custGeom>
              <a:avLst/>
              <a:gdLst/>
              <a:ahLst/>
              <a:cxnLst/>
              <a:rect l="l" t="t" r="r" b="b"/>
              <a:pathLst>
                <a:path w="457200" h="9525">
                  <a:moveTo>
                    <a:pt x="0" y="0"/>
                  </a:moveTo>
                  <a:lnTo>
                    <a:pt x="457200" y="0"/>
                  </a:lnTo>
                </a:path>
              </a:pathLst>
            </a:custGeom>
            <a:noFill/>
            <a:ln w="38100">
              <a:solidFill>
                <a:srgbClr val="16324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1"/>
            <p:cNvSpPr/>
            <p:nvPr/>
          </p:nvSpPr>
          <p:spPr>
            <a:xfrm>
              <a:off x="4724400" y="31337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rgbClr val="16324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32"/>
            <p:cNvSpPr/>
            <p:nvPr/>
          </p:nvSpPr>
          <p:spPr>
            <a:xfrm>
              <a:off x="6838950" y="31337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rgbClr val="16324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Line 33"/>
            <p:cNvSpPr/>
            <p:nvPr/>
          </p:nvSpPr>
          <p:spPr>
            <a:xfrm>
              <a:off x="8953500" y="31337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rgbClr val="16324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66800" y="4362450"/>
            <a:ext cx="9982200" cy="1214438"/>
            <a:chOff x="1066800" y="4362450"/>
            <a:chExt cx="9982200" cy="1214438"/>
          </a:xfrm>
        </p:grpSpPr>
        <p:sp>
          <p:nvSpPr>
            <p:cNvPr id="35" name="Rectangle 35"/>
            <p:cNvSpPr/>
            <p:nvPr/>
          </p:nvSpPr>
          <p:spPr>
            <a:xfrm>
              <a:off x="1066800" y="4362450"/>
              <a:ext cx="9982200" cy="1200150"/>
            </a:xfrm>
            <a:prstGeom prst="roundRect">
              <a:avLst>
                <a:gd name="adj" fmla="val 22222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51598" y="4630579"/>
              <a:ext cx="3127391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为什么这个流程适合课程项目？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54455" y="5016818"/>
              <a:ext cx="65871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它把“图像加速”“可解释特征”“集成学习”和“实时检测结构”串成了一条完整链路，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54455" y="5302568"/>
              <a:ext cx="61550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既能讲清经典检测算法的思想，也便于在代码层面逐模块实现、调试和分析。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21" grpId="0"/>
      <p:bldP spid="25" grpId="0"/>
      <p:bldP spid="29" grpId="0"/>
      <p:bldP spid="34" grpId="0"/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448189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积分图与 Haar-like 特征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一个负责加速，一个负责表达亮暗结构差异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350" y="1943100"/>
            <a:ext cx="4591050" cy="3867150"/>
            <a:chOff x="895350" y="1943100"/>
            <a:chExt cx="4591050" cy="386715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4591050" cy="3867150"/>
            </a:xfrm>
            <a:prstGeom prst="roundRect">
              <a:avLst>
                <a:gd name="adj" fmla="val 6897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18694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积分图的作用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1100" y="2714625"/>
              <a:ext cx="28384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通过预先累积左上区域像素和，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1100" y="3038475"/>
              <a:ext cx="378856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任意矩形区域都能在 O(1) 时间完成求和。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588068"/>
              <a:ext cx="35987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这让成千上万个 Haar 特征的计算变得可行，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8738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否则滑动窗口检测的计算量会非常高。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77290" y="4453890"/>
              <a:ext cx="25030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Haar-like 特征的作用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3005" y="4997768"/>
              <a:ext cx="36527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它不是看“像不像一张脸”，而是比较不同区域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3005" y="528351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的亮暗差异，例如眼睛与脸颊、鼻梁与两侧阴影。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0" y="1943100"/>
            <a:ext cx="5391150" cy="3867150"/>
            <a:chOff x="5905500" y="1943100"/>
            <a:chExt cx="5391150" cy="3867150"/>
          </a:xfrm>
        </p:grpSpPr>
        <p:sp>
          <p:nvSpPr>
            <p:cNvPr id="19" name="Rectangle 19"/>
            <p:cNvSpPr/>
            <p:nvPr/>
          </p:nvSpPr>
          <p:spPr>
            <a:xfrm>
              <a:off x="5905500" y="1943100"/>
              <a:ext cx="5391150" cy="3867150"/>
            </a:xfrm>
            <a:prstGeom prst="roundRect">
              <a:avLst>
                <a:gd name="adj" fmla="val 6897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77531" y="2051685"/>
              <a:ext cx="3797877" cy="3686175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895350" y="5924550"/>
            <a:ext cx="10401300" cy="285750"/>
            <a:chOff x="895350" y="5924550"/>
            <a:chExt cx="10401300" cy="285750"/>
          </a:xfrm>
        </p:grpSpPr>
        <p:sp>
          <p:nvSpPr>
            <p:cNvPr id="22" name="Rectangle 22"/>
            <p:cNvSpPr/>
            <p:nvPr/>
          </p:nvSpPr>
          <p:spPr>
            <a:xfrm>
              <a:off x="895350" y="5924550"/>
              <a:ext cx="10401300" cy="228600"/>
            </a:xfrm>
            <a:prstGeom prst="roundRect">
              <a:avLst>
                <a:gd name="adj" fmla="val 50000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22915" y="5966460"/>
              <a:ext cx="71461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最终模型固定抽样 20000 个 Haar 特征，再由 AdaBoost 选择真正有判别力的一小部分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478465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弱分类器与特征分析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从模型内部看 AdaBoost 选到了哪些特征，以及弱学习器如何集成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0000" y="2120000"/>
              <a:ext cx="5850000" cy="254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  <p:sp>
          <p:nvSpPr>
            <p:cNvPr id="12" name="Rectangle 12"/>
            <p:cNvSpPr/>
            <p:nvPr/>
          </p:nvSpPr>
          <p:spPr>
            <a:xfrm>
              <a:off x="89535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0" y="5286375"/>
              <a:ext cx="1047307" cy="203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10000"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主导特征类型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810" y="558546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two_vertical 与 two_horizontal 占比最高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57700" y="5048250"/>
            <a:ext cx="4370451" cy="876300"/>
            <a:chOff x="4457700" y="5048250"/>
            <a:chExt cx="4370451" cy="876300"/>
          </a:xfrm>
        </p:grpSpPr>
        <p:sp>
          <p:nvSpPr>
            <p:cNvPr id="16" name="Rectangle 16"/>
            <p:cNvSpPr/>
            <p:nvPr/>
          </p:nvSpPr>
          <p:spPr>
            <a:xfrm>
              <a:off x="445770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528637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符合人脸结构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9160" y="558546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眼睛、脸颊、鼻梁等区域体现强亮暗对比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  <p:sp>
          <p:nvSpPr>
            <p:cNvPr id="20" name="Rectangle 20"/>
            <p:cNvSpPr/>
            <p:nvPr/>
          </p:nvSpPr>
          <p:spPr>
            <a:xfrm>
              <a:off x="8020050" y="5048250"/>
              <a:ext cx="3276600" cy="876300"/>
            </a:xfrm>
            <a:prstGeom prst="roundRect">
              <a:avLst>
                <a:gd name="adj" fmla="val 23913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52863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可解释性价值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1510" y="5585460"/>
              <a:ext cx="32148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传统方法能直接追踪被选中特征的类型和位置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10633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611799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AdaBoost 与 Cascade 级联分类器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3130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一个负责“挑特征”，一个负责“快筛除”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350" y="1981200"/>
            <a:ext cx="5425440" cy="3638550"/>
            <a:chOff x="895350" y="1981200"/>
            <a:chExt cx="5425440" cy="3638550"/>
          </a:xfrm>
        </p:grpSpPr>
        <p:sp>
          <p:nvSpPr>
            <p:cNvPr id="9" name="Rectangle 9"/>
            <p:cNvSpPr/>
            <p:nvPr/>
          </p:nvSpPr>
          <p:spPr>
            <a:xfrm>
              <a:off x="895350" y="1981200"/>
              <a:ext cx="4705350" cy="3638550"/>
            </a:xfrm>
            <a:prstGeom prst="roundRect">
              <a:avLst>
                <a:gd name="adj" fmla="val 785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225040"/>
              <a:ext cx="367497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AdaBoost：从大量特征中挑重点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3005" y="2787968"/>
              <a:ext cx="34817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每轮寻找当前加权错误率最低的弱分类器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3005" y="3111818"/>
              <a:ext cx="35447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给“难分样本”更高权重，继续训练下一轮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435668"/>
              <a:ext cx="37067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最终把多个弱分类器按权重组合成强分类器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200150" y="4038600"/>
              <a:ext cx="4095750" cy="1047750"/>
            </a:xfrm>
            <a:prstGeom prst="roundRect">
              <a:avLst>
                <a:gd name="adj" fmla="val 18182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47800" y="4295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直观理解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4940" y="4542474"/>
              <a:ext cx="4895850" cy="4695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不需要所有特征都参与决策，只保留“最有区分力”</a:t>
              </a:r>
              <a:endParaRPr lang="en-US" altLang="zh-CN" sz="1275" dirty="0">
                <a:solidFill>
                  <a:srgbClr val="D9D2C5"/>
                </a:solidFill>
                <a:latin typeface="Arial"/>
                <a:ea typeface="Microsoft YaHei"/>
                <a:cs typeface="Arial"/>
              </a:endParaRPr>
            </a:p>
            <a:p>
              <a:r>
                <a:rPr lang="zh-CN" sz="1275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的少量特征，</a:t>
              </a:r>
              <a:r>
                <a:rPr lang="zh-CN" altLang="zh-CN" sz="1275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从而兼顾判别能力与后续检测效率。</a:t>
              </a:r>
            </a:p>
            <a:p>
              <a:pPr algn="l"/>
              <a:endParaRPr lang="zh-CN" sz="1275" dirty="0">
                <a:solidFill>
                  <a:srgbClr val="D9D2C5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38850" y="1981200"/>
            <a:ext cx="5257800" cy="3638550"/>
            <a:chOff x="6038850" y="1981200"/>
            <a:chExt cx="5257800" cy="3638550"/>
          </a:xfrm>
        </p:grpSpPr>
        <p:sp>
          <p:nvSpPr>
            <p:cNvPr id="19" name="Rectangle 19"/>
            <p:cNvSpPr/>
            <p:nvPr/>
          </p:nvSpPr>
          <p:spPr>
            <a:xfrm>
              <a:off x="6038850" y="1981200"/>
              <a:ext cx="5257800" cy="3638550"/>
            </a:xfrm>
            <a:prstGeom prst="roundRect">
              <a:avLst>
                <a:gd name="adj" fmla="val 785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20790" y="2225040"/>
              <a:ext cx="42924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Cascade：尽早拒绝明显的非人脸窗口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343650" y="2819400"/>
              <a:ext cx="1123950" cy="6858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29550" y="2819400"/>
              <a:ext cx="1123950" cy="6858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315450" y="2819400"/>
              <a:ext cx="1123950" cy="6858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34781" y="3057525"/>
              <a:ext cx="7416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Stage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4428" y="3057525"/>
              <a:ext cx="794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Stage 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80328" y="3057525"/>
              <a:ext cx="79419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Stage N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7467600" y="31623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tailEnd type="arrow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/>
            <p:nvPr/>
          </p:nvSpPr>
          <p:spPr>
            <a:xfrm>
              <a:off x="8953500" y="31623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2E7D32"/>
              </a:solidFill>
              <a:tailEnd type="arrow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04121" y="4044317"/>
              <a:ext cx="41748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只有通过前一层筛选的窗口，才有资格进入下一层。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26505" y="4216718"/>
              <a:ext cx="41928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这意味着大量“显而易见的背景”会被非常早地拒绝，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00965" y="4426268"/>
              <a:ext cx="3994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只有少量更像人脸的候选才继续花更多计算资源。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89677" y="5068275"/>
              <a:ext cx="500000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10000"/>
            </a:bodyPr>
            <a:lstStyle/>
            <a:p>
              <a:pPr algn="l"/>
              <a:r>
                <a:rPr lang="zh-CN" sz="1275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因此，Cascade 的价值不只是“分类”，更关键的是“让检测过程具备实时性”。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05625" y="3505200"/>
            <a:ext cx="0" cy="320040"/>
          </a:xfrm>
          <a:prstGeom prst="line">
            <a:avLst/>
          </a:prstGeom>
          <a:ln w="19050">
            <a:solidFill>
              <a:srgbClr val="C6282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2705" y="3825240"/>
            <a:ext cx="1005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</a:rPr>
              <a:t>✗ 非人脸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391525" y="3505200"/>
            <a:ext cx="0" cy="320040"/>
          </a:xfrm>
          <a:prstGeom prst="line">
            <a:avLst/>
          </a:prstGeom>
          <a:ln w="19050">
            <a:solidFill>
              <a:srgbClr val="C6282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88605" y="3825240"/>
            <a:ext cx="1005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</a:rPr>
              <a:t>✗ 非人脸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877425" y="3505200"/>
            <a:ext cx="0" cy="320040"/>
          </a:xfrm>
          <a:prstGeom prst="line">
            <a:avLst/>
          </a:prstGeom>
          <a:ln w="19050">
            <a:solidFill>
              <a:srgbClr val="C62828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374505" y="3825240"/>
            <a:ext cx="1005840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62828"/>
                </a:solidFill>
              </a:rPr>
              <a:t>✗ 非人脸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44619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多尺度滑窗检测与后处理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检测性能不仅来自模型本身，也来自合理的窗口搜索与后处理策略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5350" y="1981200"/>
            <a:ext cx="2766060" cy="3733800"/>
            <a:chOff x="895350" y="1981200"/>
            <a:chExt cx="2766060" cy="3733800"/>
          </a:xfrm>
        </p:grpSpPr>
        <p:sp>
          <p:nvSpPr>
            <p:cNvPr id="9" name="Rectangle 9"/>
            <p:cNvSpPr/>
            <p:nvPr/>
          </p:nvSpPr>
          <p:spPr>
            <a:xfrm>
              <a:off x="895350" y="1981200"/>
              <a:ext cx="2362200" cy="3733800"/>
            </a:xfrm>
            <a:prstGeom prst="roundRect">
              <a:avLst>
                <a:gd name="adj" fmla="val 1129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240631" y="2326481"/>
              <a:ext cx="242887" cy="242887"/>
              <a:chOff x="1240631" y="2326481"/>
              <a:chExt cx="242887" cy="2428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40631" y="24884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13494" y="0"/>
                    </a:moveTo>
                    <a:cubicBezTo>
                      <a:pt x="20946" y="0"/>
                      <a:pt x="26988" y="6041"/>
                      <a:pt x="26988" y="13494"/>
                    </a:cubicBezTo>
                    <a:lnTo>
                      <a:pt x="26988" y="40481"/>
                    </a:lnTo>
                    <a:cubicBezTo>
                      <a:pt x="26988" y="47934"/>
                      <a:pt x="33029" y="53975"/>
                      <a:pt x="40481" y="53975"/>
                    </a:cubicBezTo>
                    <a:lnTo>
                      <a:pt x="67469" y="53975"/>
                    </a:lnTo>
                    <a:cubicBezTo>
                      <a:pt x="74921" y="53975"/>
                      <a:pt x="80962" y="60016"/>
                      <a:pt x="80962" y="67469"/>
                    </a:cubicBezTo>
                    <a:cubicBezTo>
                      <a:pt x="80962" y="74921"/>
                      <a:pt x="74921" y="80962"/>
                      <a:pt x="67469" y="80962"/>
                    </a:cubicBezTo>
                    <a:lnTo>
                      <a:pt x="40481" y="80962"/>
                    </a:lnTo>
                    <a:cubicBezTo>
                      <a:pt x="18124" y="80962"/>
                      <a:pt x="0" y="62838"/>
                      <a:pt x="0" y="40481"/>
                    </a:cubicBezTo>
                    <a:lnTo>
                      <a:pt x="0" y="13494"/>
                    </a:lnTo>
                    <a:cubicBezTo>
                      <a:pt x="0" y="6041"/>
                      <a:pt x="6041" y="0"/>
                      <a:pt x="13494" y="0"/>
                    </a:cubicBezTo>
                  </a:path>
                </a:pathLst>
              </a:custGeom>
              <a:solidFill>
                <a:srgbClr val="16324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402556" y="24884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67469" y="0"/>
                    </a:moveTo>
                    <a:cubicBezTo>
                      <a:pt x="74921" y="0"/>
                      <a:pt x="80962" y="6041"/>
                      <a:pt x="80962" y="13494"/>
                    </a:cubicBezTo>
                    <a:lnTo>
                      <a:pt x="80962" y="40481"/>
                    </a:lnTo>
                    <a:cubicBezTo>
                      <a:pt x="80962" y="62838"/>
                      <a:pt x="62838" y="80962"/>
                      <a:pt x="40481" y="80962"/>
                    </a:cubicBezTo>
                    <a:lnTo>
                      <a:pt x="13494" y="80962"/>
                    </a:lnTo>
                    <a:cubicBezTo>
                      <a:pt x="6041" y="80962"/>
                      <a:pt x="0" y="74921"/>
                      <a:pt x="0" y="67469"/>
                    </a:cubicBezTo>
                    <a:cubicBezTo>
                      <a:pt x="0" y="60016"/>
                      <a:pt x="6041" y="53975"/>
                      <a:pt x="13494" y="53975"/>
                    </a:cubicBezTo>
                    <a:lnTo>
                      <a:pt x="40481" y="53975"/>
                    </a:lnTo>
                    <a:cubicBezTo>
                      <a:pt x="47934" y="53975"/>
                      <a:pt x="53975" y="47934"/>
                      <a:pt x="53975" y="40481"/>
                    </a:cubicBezTo>
                    <a:lnTo>
                      <a:pt x="53975" y="13494"/>
                    </a:lnTo>
                    <a:cubicBezTo>
                      <a:pt x="53975" y="6041"/>
                      <a:pt x="60016" y="0"/>
                      <a:pt x="67469" y="0"/>
                    </a:cubicBezTo>
                  </a:path>
                </a:pathLst>
              </a:custGeom>
              <a:solidFill>
                <a:srgbClr val="16324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294606" y="2380456"/>
                <a:ext cx="136098" cy="136098"/>
              </a:xfrm>
              <a:custGeom>
                <a:avLst/>
                <a:gdLst/>
                <a:ahLst/>
                <a:cxnLst/>
                <a:rect l="l" t="t" r="r" b="b"/>
                <a:pathLst>
                  <a:path w="136098" h="136098">
                    <a:moveTo>
                      <a:pt x="53975" y="0"/>
                    </a:moveTo>
                    <a:cubicBezTo>
                      <a:pt x="73345" y="0"/>
                      <a:pt x="91230" y="10379"/>
                      <a:pt x="100839" y="27198"/>
                    </a:cubicBezTo>
                    <a:cubicBezTo>
                      <a:pt x="110449" y="44016"/>
                      <a:pt x="110310" y="64694"/>
                      <a:pt x="100474" y="81381"/>
                    </a:cubicBezTo>
                    <a:lnTo>
                      <a:pt x="130984" y="111904"/>
                    </a:lnTo>
                    <a:cubicBezTo>
                      <a:pt x="136098" y="117198"/>
                      <a:pt x="136024" y="125614"/>
                      <a:pt x="130819" y="130819"/>
                    </a:cubicBezTo>
                    <a:cubicBezTo>
                      <a:pt x="125614" y="136024"/>
                      <a:pt x="117198" y="136098"/>
                      <a:pt x="111904" y="130984"/>
                    </a:cubicBezTo>
                    <a:lnTo>
                      <a:pt x="81381" y="100488"/>
                    </a:lnTo>
                    <a:lnTo>
                      <a:pt x="80962" y="100717"/>
                    </a:lnTo>
                    <a:cubicBezTo>
                      <a:pt x="64263" y="110359"/>
                      <a:pt x="43688" y="110359"/>
                      <a:pt x="26988" y="100718"/>
                    </a:cubicBezTo>
                    <a:cubicBezTo>
                      <a:pt x="10288" y="91076"/>
                      <a:pt x="0" y="73258"/>
                      <a:pt x="0" y="53975"/>
                    </a:cubicBezTo>
                    <a:lnTo>
                      <a:pt x="67" y="51276"/>
                    </a:lnTo>
                    <a:cubicBezTo>
                      <a:pt x="1505" y="22552"/>
                      <a:pt x="25214" y="0"/>
                      <a:pt x="53975" y="0"/>
                    </a:cubicBezTo>
                  </a:path>
                </a:pathLst>
              </a:custGeom>
              <a:solidFill>
                <a:srgbClr val="16324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240631" y="23264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67469" y="0"/>
                    </a:moveTo>
                    <a:cubicBezTo>
                      <a:pt x="74921" y="0"/>
                      <a:pt x="80962" y="6041"/>
                      <a:pt x="80962" y="13494"/>
                    </a:cubicBezTo>
                    <a:cubicBezTo>
                      <a:pt x="80962" y="20946"/>
                      <a:pt x="74921" y="26988"/>
                      <a:pt x="67469" y="26988"/>
                    </a:cubicBezTo>
                    <a:lnTo>
                      <a:pt x="40481" y="26988"/>
                    </a:lnTo>
                    <a:cubicBezTo>
                      <a:pt x="33029" y="26988"/>
                      <a:pt x="26988" y="33029"/>
                      <a:pt x="26988" y="40481"/>
                    </a:cubicBezTo>
                    <a:lnTo>
                      <a:pt x="26988" y="67469"/>
                    </a:lnTo>
                    <a:cubicBezTo>
                      <a:pt x="26988" y="74921"/>
                      <a:pt x="20946" y="80962"/>
                      <a:pt x="13494" y="80962"/>
                    </a:cubicBezTo>
                    <a:cubicBezTo>
                      <a:pt x="6041" y="80962"/>
                      <a:pt x="0" y="74921"/>
                      <a:pt x="0" y="67469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close/>
                  </a:path>
                </a:pathLst>
              </a:custGeom>
              <a:solidFill>
                <a:srgbClr val="16324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1402556" y="2326481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40481" y="0"/>
                    </a:moveTo>
                    <a:cubicBezTo>
                      <a:pt x="62838" y="0"/>
                      <a:pt x="80962" y="18124"/>
                      <a:pt x="80962" y="40481"/>
                    </a:cubicBezTo>
                    <a:lnTo>
                      <a:pt x="80962" y="67469"/>
                    </a:lnTo>
                    <a:cubicBezTo>
                      <a:pt x="80962" y="74921"/>
                      <a:pt x="74921" y="80962"/>
                      <a:pt x="67469" y="80962"/>
                    </a:cubicBezTo>
                    <a:cubicBezTo>
                      <a:pt x="60016" y="80962"/>
                      <a:pt x="53975" y="74921"/>
                      <a:pt x="53975" y="67469"/>
                    </a:cubicBezTo>
                    <a:lnTo>
                      <a:pt x="53975" y="40481"/>
                    </a:lnTo>
                    <a:cubicBezTo>
                      <a:pt x="53975" y="33029"/>
                      <a:pt x="47934" y="26988"/>
                      <a:pt x="40481" y="26988"/>
                    </a:cubicBezTo>
                    <a:lnTo>
                      <a:pt x="13494" y="26988"/>
                    </a:lnTo>
                    <a:cubicBezTo>
                      <a:pt x="6041" y="26988"/>
                      <a:pt x="0" y="20946"/>
                      <a:pt x="0" y="13494"/>
                    </a:cubicBezTo>
                    <a:cubicBezTo>
                      <a:pt x="0" y="6041"/>
                      <a:pt x="6041" y="0"/>
                      <a:pt x="13494" y="0"/>
                    </a:cubicBezTo>
                    <a:close/>
                  </a:path>
                </a:pathLst>
              </a:custGeom>
              <a:solidFill>
                <a:srgbClr val="16324F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654492" y="23474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滑窗搜索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3005" y="29022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在多尺度图像金字塔上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3005" y="31880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用固定窗口逐步滑动，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83005" y="347376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覆盖不同大小的人脸。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0615" y="4053840"/>
              <a:ext cx="25507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`scale_factor`、`window_step`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84910" y="4309110"/>
              <a:ext cx="20787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和 `min_size` 共同决定速度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84910" y="45758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与覆盖范围之间的平衡。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486150" y="1981200"/>
            <a:ext cx="2527221" cy="3733800"/>
            <a:chOff x="3486150" y="1981200"/>
            <a:chExt cx="2527221" cy="3733800"/>
          </a:xfrm>
        </p:grpSpPr>
        <p:sp>
          <p:nvSpPr>
            <p:cNvPr id="24" name="Rectangle 24"/>
            <p:cNvSpPr/>
            <p:nvPr/>
          </p:nvSpPr>
          <p:spPr>
            <a:xfrm>
              <a:off x="3486150" y="1981200"/>
              <a:ext cx="2362200" cy="3733800"/>
            </a:xfrm>
            <a:prstGeom prst="roundRect">
              <a:avLst>
                <a:gd name="adj" fmla="val 1129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3831431" y="2326481"/>
              <a:ext cx="242892" cy="257064"/>
            </a:xfrm>
            <a:custGeom>
              <a:avLst/>
              <a:gdLst/>
              <a:ahLst/>
              <a:cxnLst/>
              <a:rect l="l" t="t" r="r" b="b"/>
              <a:pathLst>
                <a:path w="242892" h="257064">
                  <a:moveTo>
                    <a:pt x="229394" y="0"/>
                  </a:moveTo>
                  <a:lnTo>
                    <a:pt x="13494" y="0"/>
                  </a:lnTo>
                  <a:cubicBezTo>
                    <a:pt x="6041" y="0"/>
                    <a:pt x="0" y="6041"/>
                    <a:pt x="0" y="13494"/>
                  </a:cubicBezTo>
                  <a:lnTo>
                    <a:pt x="0" y="43544"/>
                  </a:lnTo>
                  <a:lnTo>
                    <a:pt x="108" y="46553"/>
                  </a:lnTo>
                  <a:cubicBezTo>
                    <a:pt x="780" y="55563"/>
                    <a:pt x="4447" y="64090"/>
                    <a:pt x="10525" y="70775"/>
                  </a:cubicBezTo>
                  <a:lnTo>
                    <a:pt x="67469" y="133399"/>
                  </a:lnTo>
                  <a:lnTo>
                    <a:pt x="67469" y="242888"/>
                  </a:lnTo>
                  <a:cubicBezTo>
                    <a:pt x="67468" y="247225"/>
                    <a:pt x="69552" y="251299"/>
                    <a:pt x="73070" y="253836"/>
                  </a:cubicBezTo>
                  <a:cubicBezTo>
                    <a:pt x="76588" y="256373"/>
                    <a:pt x="81111" y="257064"/>
                    <a:pt x="85227" y="255693"/>
                  </a:cubicBezTo>
                  <a:lnTo>
                    <a:pt x="166189" y="228706"/>
                  </a:lnTo>
                  <a:lnTo>
                    <a:pt x="167646" y="228125"/>
                  </a:lnTo>
                  <a:cubicBezTo>
                    <a:pt x="172390" y="225904"/>
                    <a:pt x="175421" y="221138"/>
                    <a:pt x="175419" y="215900"/>
                  </a:cubicBezTo>
                  <a:lnTo>
                    <a:pt x="175419" y="127030"/>
                  </a:lnTo>
                  <a:lnTo>
                    <a:pt x="231026" y="71436"/>
                  </a:lnTo>
                  <a:cubicBezTo>
                    <a:pt x="238625" y="63839"/>
                    <a:pt x="242892" y="53533"/>
                    <a:pt x="242888" y="42789"/>
                  </a:cubicBezTo>
                  <a:lnTo>
                    <a:pt x="242888" y="13494"/>
                  </a:lnTo>
                  <a:cubicBezTo>
                    <a:pt x="242888" y="6041"/>
                    <a:pt x="236846" y="0"/>
                    <a:pt x="229394" y="0"/>
                  </a:cubicBezTo>
                  <a:close/>
                </a:path>
              </a:pathLst>
            </a:cu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45292" y="2347436"/>
              <a:ext cx="125146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邻居数过滤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73805" y="2902268"/>
              <a:ext cx="22395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`min_neighbors` 要求同一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73805" y="31880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位置出现足够多的重叠框，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73805" y="3473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从而剔除大量孤立误检。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5710" y="40424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这是项目后处理中最关键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75710" y="43091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的经验之一，也解释了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75710" y="4575810"/>
              <a:ext cx="21107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为什么仅靠级联本身还不够。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76950" y="1981200"/>
            <a:ext cx="2500217" cy="3733800"/>
            <a:chOff x="6076950" y="1981200"/>
            <a:chExt cx="2500217" cy="3733800"/>
          </a:xfrm>
        </p:grpSpPr>
        <p:sp>
          <p:nvSpPr>
            <p:cNvPr id="34" name="Rectangle 34"/>
            <p:cNvSpPr/>
            <p:nvPr/>
          </p:nvSpPr>
          <p:spPr>
            <a:xfrm>
              <a:off x="6076950" y="1981200"/>
              <a:ext cx="2362200" cy="3733800"/>
            </a:xfrm>
            <a:prstGeom prst="roundRect">
              <a:avLst>
                <a:gd name="adj" fmla="val 1129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6422231" y="2326481"/>
              <a:ext cx="242888" cy="242882"/>
            </a:xfrm>
            <a:custGeom>
              <a:avLst/>
              <a:gdLst/>
              <a:ahLst/>
              <a:cxnLst/>
              <a:rect l="l" t="t" r="r" b="b"/>
              <a:pathLst>
                <a:path w="242888" h="242882">
                  <a:moveTo>
                    <a:pt x="188913" y="161925"/>
                  </a:moveTo>
                  <a:cubicBezTo>
                    <a:pt x="206535" y="161925"/>
                    <a:pt x="221540" y="173192"/>
                    <a:pt x="227100" y="188912"/>
                  </a:cubicBezTo>
                  <a:lnTo>
                    <a:pt x="229394" y="188912"/>
                  </a:lnTo>
                  <a:cubicBezTo>
                    <a:pt x="236846" y="188912"/>
                    <a:pt x="242888" y="194954"/>
                    <a:pt x="242888" y="202406"/>
                  </a:cubicBezTo>
                  <a:cubicBezTo>
                    <a:pt x="242888" y="209859"/>
                    <a:pt x="236846" y="215900"/>
                    <a:pt x="229394" y="215900"/>
                  </a:cubicBezTo>
                  <a:lnTo>
                    <a:pt x="227086" y="215900"/>
                  </a:lnTo>
                  <a:cubicBezTo>
                    <a:pt x="221362" y="232072"/>
                    <a:pt x="206068" y="242882"/>
                    <a:pt x="188913" y="242882"/>
                  </a:cubicBezTo>
                  <a:cubicBezTo>
                    <a:pt x="171757" y="242882"/>
                    <a:pt x="156463" y="232072"/>
                    <a:pt x="150739" y="215900"/>
                  </a:cubicBezTo>
                  <a:lnTo>
                    <a:pt x="13494" y="215900"/>
                  </a:lnTo>
                  <a:cubicBezTo>
                    <a:pt x="6041" y="215900"/>
                    <a:pt x="0" y="209859"/>
                    <a:pt x="0" y="202406"/>
                  </a:cubicBezTo>
                  <a:cubicBezTo>
                    <a:pt x="0" y="194954"/>
                    <a:pt x="6041" y="188912"/>
                    <a:pt x="13494" y="188912"/>
                  </a:cubicBezTo>
                  <a:lnTo>
                    <a:pt x="150766" y="188912"/>
                  </a:lnTo>
                  <a:cubicBezTo>
                    <a:pt x="156298" y="173192"/>
                    <a:pt x="171276" y="161925"/>
                    <a:pt x="188913" y="161925"/>
                  </a:cubicBezTo>
                  <a:moveTo>
                    <a:pt x="67469" y="80962"/>
                  </a:moveTo>
                  <a:cubicBezTo>
                    <a:pt x="85092" y="80962"/>
                    <a:pt x="100097" y="92230"/>
                    <a:pt x="105656" y="107950"/>
                  </a:cubicBezTo>
                  <a:lnTo>
                    <a:pt x="229394" y="107950"/>
                  </a:lnTo>
                  <a:cubicBezTo>
                    <a:pt x="236846" y="107950"/>
                    <a:pt x="242888" y="113991"/>
                    <a:pt x="242888" y="121444"/>
                  </a:cubicBezTo>
                  <a:cubicBezTo>
                    <a:pt x="242888" y="128896"/>
                    <a:pt x="236846" y="134938"/>
                    <a:pt x="229394" y="134938"/>
                  </a:cubicBezTo>
                  <a:lnTo>
                    <a:pt x="105643" y="134938"/>
                  </a:lnTo>
                  <a:cubicBezTo>
                    <a:pt x="99918" y="151110"/>
                    <a:pt x="84624" y="161920"/>
                    <a:pt x="67469" y="161920"/>
                  </a:cubicBezTo>
                  <a:cubicBezTo>
                    <a:pt x="50313" y="161920"/>
                    <a:pt x="35019" y="151110"/>
                    <a:pt x="29295" y="134938"/>
                  </a:cubicBezTo>
                  <a:lnTo>
                    <a:pt x="13494" y="134938"/>
                  </a:lnTo>
                  <a:cubicBezTo>
                    <a:pt x="6041" y="134938"/>
                    <a:pt x="0" y="128896"/>
                    <a:pt x="0" y="121444"/>
                  </a:cubicBezTo>
                  <a:cubicBezTo>
                    <a:pt x="0" y="113991"/>
                    <a:pt x="6041" y="107950"/>
                    <a:pt x="13494" y="107950"/>
                  </a:cubicBezTo>
                  <a:lnTo>
                    <a:pt x="29322" y="107950"/>
                  </a:lnTo>
                  <a:cubicBezTo>
                    <a:pt x="34854" y="92230"/>
                    <a:pt x="49832" y="80962"/>
                    <a:pt x="67469" y="80962"/>
                  </a:cubicBezTo>
                  <a:moveTo>
                    <a:pt x="148431" y="0"/>
                  </a:moveTo>
                  <a:cubicBezTo>
                    <a:pt x="166054" y="0"/>
                    <a:pt x="181059" y="11267"/>
                    <a:pt x="186619" y="26988"/>
                  </a:cubicBezTo>
                  <a:lnTo>
                    <a:pt x="229394" y="26988"/>
                  </a:lnTo>
                  <a:cubicBezTo>
                    <a:pt x="236846" y="26988"/>
                    <a:pt x="242888" y="33029"/>
                    <a:pt x="242888" y="40481"/>
                  </a:cubicBezTo>
                  <a:cubicBezTo>
                    <a:pt x="242888" y="47934"/>
                    <a:pt x="236846" y="53975"/>
                    <a:pt x="229394" y="53975"/>
                  </a:cubicBezTo>
                  <a:lnTo>
                    <a:pt x="186605" y="53975"/>
                  </a:lnTo>
                  <a:cubicBezTo>
                    <a:pt x="180881" y="70147"/>
                    <a:pt x="165587" y="80957"/>
                    <a:pt x="148431" y="80957"/>
                  </a:cubicBezTo>
                  <a:cubicBezTo>
                    <a:pt x="131276" y="80957"/>
                    <a:pt x="115982" y="70147"/>
                    <a:pt x="110257" y="53975"/>
                  </a:cubicBezTo>
                  <a:lnTo>
                    <a:pt x="13494" y="53975"/>
                  </a:lnTo>
                  <a:cubicBezTo>
                    <a:pt x="6041" y="53975"/>
                    <a:pt x="0" y="47934"/>
                    <a:pt x="0" y="40481"/>
                  </a:cubicBezTo>
                  <a:cubicBezTo>
                    <a:pt x="0" y="33029"/>
                    <a:pt x="6041" y="26988"/>
                    <a:pt x="13494" y="26988"/>
                  </a:cubicBezTo>
                  <a:lnTo>
                    <a:pt x="110284" y="26988"/>
                  </a:lnTo>
                  <a:cubicBezTo>
                    <a:pt x="115817" y="11267"/>
                    <a:pt x="130795" y="0"/>
                    <a:pt x="148431" y="0"/>
                  </a:cubicBezTo>
                </a:path>
              </a:pathLst>
            </a:custGeom>
            <a:solidFill>
              <a:srgbClr val="D97A5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36092" y="234743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分数阈值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4605" y="2902268"/>
              <a:ext cx="20865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`score_threshold` 用于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64605" y="3188018"/>
              <a:ext cx="22125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抑制“勉强通过”的低分框，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364605" y="3473768"/>
              <a:ext cx="20145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在复杂场景里尤其重要。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66510" y="4042410"/>
              <a:ext cx="19907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它通常与 `min_neighbors`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66510" y="43091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联合使用，一边控制误报，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366510" y="4575810"/>
              <a:ext cx="16466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一边尽量保住 Recall。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667750" y="1981200"/>
            <a:ext cx="2901649" cy="3733800"/>
            <a:chOff x="8667750" y="1981200"/>
            <a:chExt cx="2901649" cy="3733800"/>
          </a:xfrm>
        </p:grpSpPr>
        <p:sp>
          <p:nvSpPr>
            <p:cNvPr id="44" name="Rectangle 44"/>
            <p:cNvSpPr/>
            <p:nvPr/>
          </p:nvSpPr>
          <p:spPr>
            <a:xfrm>
              <a:off x="8667750" y="1981200"/>
              <a:ext cx="2628900" cy="3733800"/>
            </a:xfrm>
            <a:prstGeom prst="roundRect">
              <a:avLst>
                <a:gd name="adj" fmla="val 10145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8988789" y="2300321"/>
              <a:ext cx="281783" cy="283701"/>
            </a:xfrm>
            <a:custGeom>
              <a:avLst/>
              <a:gdLst/>
              <a:ahLst/>
              <a:cxnLst/>
              <a:rect l="l" t="t" r="r" b="b"/>
              <a:pathLst>
                <a:path w="281783" h="283701">
                  <a:moveTo>
                    <a:pt x="172673" y="27132"/>
                  </a:moveTo>
                  <a:cubicBezTo>
                    <a:pt x="199688" y="42726"/>
                    <a:pt x="218637" y="69245"/>
                    <a:pt x="224638" y="99855"/>
                  </a:cubicBezTo>
                  <a:cubicBezTo>
                    <a:pt x="230639" y="130466"/>
                    <a:pt x="223106" y="162176"/>
                    <a:pt x="203979" y="186817"/>
                  </a:cubicBezTo>
                  <a:lnTo>
                    <a:pt x="276669" y="259507"/>
                  </a:lnTo>
                  <a:cubicBezTo>
                    <a:pt x="281783" y="264802"/>
                    <a:pt x="281710" y="273218"/>
                    <a:pt x="276505" y="278423"/>
                  </a:cubicBezTo>
                  <a:cubicBezTo>
                    <a:pt x="271300" y="283628"/>
                    <a:pt x="262884" y="283701"/>
                    <a:pt x="257589" y="278588"/>
                  </a:cubicBezTo>
                  <a:lnTo>
                    <a:pt x="184885" y="205897"/>
                  </a:lnTo>
                  <a:cubicBezTo>
                    <a:pt x="142028" y="239151"/>
                    <a:pt x="81149" y="235438"/>
                    <a:pt x="42653" y="197220"/>
                  </a:cubicBezTo>
                  <a:cubicBezTo>
                    <a:pt x="4156" y="159002"/>
                    <a:pt x="0" y="98152"/>
                    <a:pt x="32942" y="55055"/>
                  </a:cubicBezTo>
                  <a:cubicBezTo>
                    <a:pt x="65884" y="11958"/>
                    <a:pt x="125693" y="0"/>
                    <a:pt x="172673" y="27118"/>
                  </a:cubicBezTo>
                </a:path>
              </a:pathLst>
            </a:custGeom>
            <a:solidFill>
              <a:srgbClr val="2C8C7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426892" y="2347436"/>
              <a:ext cx="173452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自定义合并算法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55405" y="2902268"/>
              <a:ext cx="24915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`_cluster_weighted_merge`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955405" y="3188018"/>
              <a:ext cx="23205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通过 IoU、包含度与几何接近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55405" y="34737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三条件解决跨尺度框合并问题。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957310" y="404241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它是项目相对 OpenCV API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57310" y="43091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更进一步的关键改造之一，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18579" y="45758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直接改善了实时演示中的重叠框问题。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3" grpId="0"/>
      <p:bldP spid="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后处理参数调优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min_neighbors 是把大量候选框变成稳定检测结果的关键开关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0000" y="2120000"/>
              <a:ext cx="5850000" cy="254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  <p:sp>
          <p:nvSpPr>
            <p:cNvPr id="12" name="Rectangle 12"/>
            <p:cNvSpPr/>
            <p:nvPr/>
          </p:nvSpPr>
          <p:spPr>
            <a:xfrm>
              <a:off x="89535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0" y="5286375"/>
              <a:ext cx="1185530" cy="2038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 lnSpcReduction="10000"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nb=0 误报严重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810" y="558546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只做 NMS 时 Precision 只有 0.033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57700" y="5048250"/>
            <a:ext cx="4370451" cy="876300"/>
            <a:chOff x="4457700" y="5048250"/>
            <a:chExt cx="4370451" cy="876300"/>
          </a:xfrm>
        </p:grpSpPr>
        <p:sp>
          <p:nvSpPr>
            <p:cNvPr id="16" name="Rectangle 16"/>
            <p:cNvSpPr/>
            <p:nvPr/>
          </p:nvSpPr>
          <p:spPr>
            <a:xfrm>
              <a:off x="445770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528637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nb=3 明显改善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9160" y="558546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Precision 跳到 0.915，F1 提升到 0.944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  <p:sp>
          <p:nvSpPr>
            <p:cNvPr id="20" name="Rectangle 20"/>
            <p:cNvSpPr/>
            <p:nvPr/>
          </p:nvSpPr>
          <p:spPr>
            <a:xfrm>
              <a:off x="8020050" y="5048250"/>
              <a:ext cx="3276600" cy="876300"/>
            </a:xfrm>
            <a:prstGeom prst="roundRect">
              <a:avLst>
                <a:gd name="adj" fmla="val 23913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52863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nb=5 最优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1510" y="5585460"/>
              <a:ext cx="32148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Recall 保持 0.980，同时 F1 达到 0.975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代码结构与模块映射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围绕算法环节拆分代码模块，便于把原理、训练和检测对应起来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5350" y="1924050"/>
            <a:ext cx="3544348" cy="3848100"/>
            <a:chOff x="895350" y="1924050"/>
            <a:chExt cx="3544348" cy="3848100"/>
          </a:xfrm>
        </p:grpSpPr>
        <p:sp>
          <p:nvSpPr>
            <p:cNvPr id="9" name="Rectangle 9"/>
            <p:cNvSpPr/>
            <p:nvPr/>
          </p:nvSpPr>
          <p:spPr>
            <a:xfrm>
              <a:off x="895350" y="1924050"/>
              <a:ext cx="2990850" cy="3848100"/>
            </a:xfrm>
            <a:prstGeom prst="roundRect">
              <a:avLst>
                <a:gd name="adj" fmla="val 8917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1678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核心算法模块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3005" y="2711768"/>
              <a:ext cx="25366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`integral_image.py`：积分图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0093" y="3054666"/>
              <a:ext cx="3429605" cy="2552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`haar_features.py`：特征定义与枚举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35946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`adaboost.py`：弱分类器与训练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683318"/>
              <a:ext cx="284264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`cascade.py`：级联结构与序列化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3005" y="4007168"/>
              <a:ext cx="2887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`sliding_window.py`：多尺度检测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3005" y="4331018"/>
              <a:ext cx="2149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`nms.py`：NMS 与框过滤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84910" y="48806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这些模块基本对应报告中的算法环节，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84910" y="51473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说明实现是按原理链路拆开的。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71950" y="1924050"/>
            <a:ext cx="3124200" cy="3848100"/>
            <a:chOff x="4171950" y="1924050"/>
            <a:chExt cx="3124200" cy="3848100"/>
          </a:xfrm>
        </p:grpSpPr>
        <p:sp>
          <p:nvSpPr>
            <p:cNvPr id="20" name="Rectangle 20"/>
            <p:cNvSpPr/>
            <p:nvPr/>
          </p:nvSpPr>
          <p:spPr>
            <a:xfrm>
              <a:off x="4171950" y="1924050"/>
              <a:ext cx="3124200" cy="3848100"/>
            </a:xfrm>
            <a:prstGeom prst="roundRect">
              <a:avLst>
                <a:gd name="adj" fmla="val 8537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53890" y="21678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训练与评估脚本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59605" y="2711768"/>
              <a:ext cx="2797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`prepare_data.py`：正样本裁切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9605" y="3035618"/>
              <a:ext cx="22395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`train.py`：早期模型训练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59605" y="3359468"/>
              <a:ext cx="27816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`train_v6.py`：大样本与增强版本训练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9605" y="3683318"/>
              <a:ext cx="27816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`evaluate.py`：定量评估与指标统计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459605" y="4007168"/>
              <a:ext cx="27816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`audit_cascade.py`：级联行为审计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322446" y="4331018"/>
              <a:ext cx="29188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`tune_threshold.py`：阈值与参数调优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515041" y="4940618"/>
              <a:ext cx="2533650" cy="571500"/>
            </a:xfrm>
            <a:prstGeom prst="roundRect">
              <a:avLst>
                <a:gd name="adj" fmla="val 26667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89717" y="5139690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75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训练、评估、审计、调优形成闭环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581900" y="1924050"/>
            <a:ext cx="4102419" cy="3848100"/>
            <a:chOff x="7581900" y="1924050"/>
            <a:chExt cx="4102419" cy="3848100"/>
          </a:xfrm>
        </p:grpSpPr>
        <p:sp>
          <p:nvSpPr>
            <p:cNvPr id="31" name="Rectangle 31"/>
            <p:cNvSpPr/>
            <p:nvPr/>
          </p:nvSpPr>
          <p:spPr>
            <a:xfrm>
              <a:off x="7581900" y="1924050"/>
              <a:ext cx="3714750" cy="3848100"/>
            </a:xfrm>
            <a:prstGeom prst="roundRect">
              <a:avLst>
                <a:gd name="adj" fmla="val 7179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63840" y="21678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演示与结果产物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869555" y="2711768"/>
              <a:ext cx="27616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`demo.py`：实时摄像头双屏对比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69555" y="3035618"/>
              <a:ext cx="28606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`detectors.py`：统一检测器接口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69555" y="3359468"/>
              <a:ext cx="32656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`metrics.py`：Precision / Recall / F1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9555" y="3683318"/>
              <a:ext cx="2779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`results/`：评估指标与输出文件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9555" y="4007168"/>
              <a:ext cx="30226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`models/`：多个版本级联模型 JSON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81901" y="4348162"/>
              <a:ext cx="4102418" cy="2571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`README.md` 与 `报告.md`：实验总结与说明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871460" y="4880610"/>
              <a:ext cx="2430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代码组织本身也体现了项目叙事：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67828" y="5147310"/>
              <a:ext cx="33428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“模块实现 → 训练 → 评估 → 演示 → 汇报材料”。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Canvas"/>
          <p:cNvSpPr/>
          <p:nvPr/>
        </p:nvSpPr>
        <p:spPr>
          <a:xfrm>
            <a:off x="552450" y="419100"/>
            <a:ext cx="11087100" cy="60198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859155" y="701992"/>
            <a:ext cx="6500000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850" b="1" dirty="0">
                <a:solidFill>
                  <a:srgbClr val="16324F"/>
                </a:solidFill>
                <a:latin typeface="Georgia"/>
                <a:ea typeface="Microsoft YaHei"/>
                <a:cs typeface="Georgia"/>
              </a:rPr>
              <a:t>算法实现细节：积分图与 Haar 特征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78205" y="1187768"/>
            <a:ext cx="80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从矩形求和到特征矩阵，决定了后续训练和检测的计算效率</a:t>
            </a:r>
          </a:p>
        </p:txBody>
      </p:sp>
      <p:sp>
        <p:nvSpPr>
          <p:cNvPr id="7" name="Divider"/>
          <p:cNvSpPr/>
          <p:nvPr/>
        </p:nvSpPr>
        <p:spPr>
          <a:xfrm>
            <a:off x="895350" y="1524000"/>
            <a:ext cx="10401300" cy="9525"/>
          </a:xfrm>
          <a:custGeom>
            <a:avLst/>
            <a:gdLst/>
            <a:ahLst/>
            <a:cxnLst/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ag"/>
          <p:cNvSpPr txBox="1"/>
          <p:nvPr/>
        </p:nvSpPr>
        <p:spPr>
          <a:xfrm>
            <a:off x="895350" y="176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实现模块 01 / 特征计算</a:t>
            </a:r>
          </a:p>
        </p:txBody>
      </p:sp>
      <p:sp>
        <p:nvSpPr>
          <p:cNvPr id="11" name="Card1"/>
          <p:cNvSpPr/>
          <p:nvPr/>
        </p:nvSpPr>
        <p:spPr>
          <a:xfrm>
            <a:off x="895350" y="2095500"/>
            <a:ext cx="3143250" cy="328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1"/>
          <p:cNvSpPr txBox="1"/>
          <p:nvPr/>
        </p:nvSpPr>
        <p:spPr>
          <a:xfrm>
            <a:off x="1160000" y="2320000"/>
            <a:ext cx="26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50" b="1" dirty="0">
                <a:solidFill>
                  <a:srgbClr val="F7F3EC"/>
                </a:solidFill>
                <a:latin typeface="Arial"/>
                <a:ea typeface="Microsoft YaHei"/>
                <a:cs typeface="Arial"/>
              </a:rPr>
              <a:t>Integral Image</a:t>
            </a:r>
          </a:p>
        </p:txBody>
      </p:sp>
      <p:sp>
        <p:nvSpPr>
          <p:cNvPr id="13" name="F1"/>
          <p:cNvSpPr txBox="1"/>
          <p:nvPr/>
        </p:nvSpPr>
        <p:spPr>
          <a:xfrm>
            <a:off x="1160000" y="277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50" dirty="0">
                <a:solidFill>
                  <a:srgbClr val="D9F2EA"/>
                </a:solidFill>
                <a:latin typeface="Georgia"/>
                <a:ea typeface="Microsoft YaHei"/>
                <a:cs typeface="Georgia"/>
              </a:rPr>
              <a:t>II(x,y) = Σ I(x’,y’)</a:t>
            </a:r>
          </a:p>
        </p:txBody>
      </p:sp>
      <p:sp>
        <p:nvSpPr>
          <p:cNvPr id="14" name="F2"/>
          <p:cNvSpPr txBox="1"/>
          <p:nvPr/>
        </p:nvSpPr>
        <p:spPr>
          <a:xfrm>
            <a:off x="1160000" y="319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50" dirty="0">
                <a:solidFill>
                  <a:srgbClr val="D9F2EA"/>
                </a:solidFill>
                <a:latin typeface="Georgia"/>
                <a:ea typeface="Microsoft YaHei"/>
                <a:cs typeface="Georgia"/>
              </a:rPr>
              <a:t>RectSum = A - B - C + D</a:t>
            </a:r>
          </a:p>
        </p:txBody>
      </p:sp>
      <p:sp>
        <p:nvSpPr>
          <p:cNvPr id="15" name="Bullet"/>
          <p:cNvSpPr txBox="1"/>
          <p:nvPr/>
        </p:nvSpPr>
        <p:spPr>
          <a:xfrm>
            <a:off x="1130000" y="3690000"/>
            <a:ext cx="2500000" cy="11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228600" indent="-152400" algn="l">
              <a:buChar char="•"/>
            </a:pPr>
            <a:r>
              <a:rPr lang="zh-CN" sz="98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积分图多补一行一列 0，边界无需特判</a:t>
            </a:r>
          </a:p>
          <a:p>
            <a:pPr marL="228600" indent="-152400" algn="l">
              <a:buChar char="•"/>
            </a:pPr>
            <a:r>
              <a:rPr lang="zh-CN" sz="98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任意矩形区域求和从遍历像素降为 O(1)</a:t>
            </a:r>
          </a:p>
          <a:p>
            <a:pPr marL="228600" indent="-152400" algn="l">
              <a:buChar char="•"/>
            </a:pPr>
            <a:r>
              <a:rPr lang="zh-CN" sz="98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平方积分图实现可选方差归一化</a:t>
            </a:r>
          </a:p>
        </p:txBody>
      </p:sp>
      <p:sp>
        <p:nvSpPr>
          <p:cNvPr id="20" name="Card2"/>
          <p:cNvSpPr/>
          <p:nvPr/>
        </p:nvSpPr>
        <p:spPr>
          <a:xfrm>
            <a:off x="4350000" y="2095500"/>
            <a:ext cx="3143250" cy="328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2"/>
          <p:cNvSpPr txBox="1"/>
          <p:nvPr/>
        </p:nvSpPr>
        <p:spPr>
          <a:xfrm>
            <a:off x="4630000" y="2320000"/>
            <a:ext cx="26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75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Haar-like Features</a:t>
            </a:r>
          </a:p>
        </p:txBody>
      </p:sp>
      <p:sp>
        <p:nvSpPr>
          <p:cNvPr id="22" name="Bullet"/>
          <p:cNvSpPr txBox="1"/>
          <p:nvPr/>
        </p:nvSpPr>
        <p:spPr>
          <a:xfrm>
            <a:off x="4630000" y="2800000"/>
            <a:ext cx="26000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228600" indent="-152400" algn="l">
              <a:buChar char="•"/>
            </a:pPr>
            <a:r>
              <a:rPr lang="zh-CN" sz="98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实现 5 类二/三/四矩形特征</a:t>
            </a:r>
          </a:p>
          <a:p>
            <a:pPr marL="228600" indent="-152400" algn="l">
              <a:buChar char="•"/>
            </a:pPr>
            <a:r>
              <a:rPr lang="zh-CN" sz="98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white / black 区域用 +1 / -1 加权</a:t>
            </a:r>
          </a:p>
          <a:p>
            <a:pPr marL="228600" indent="-152400" algn="l">
              <a:buChar char="•"/>
            </a:pPr>
            <a:r>
              <a:rPr lang="zh-CN" sz="98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24×24 窗口内枚举合法位置与尺寸</a:t>
            </a:r>
          </a:p>
        </p:txBody>
      </p:sp>
      <p:sp>
        <p:nvSpPr>
          <p:cNvPr id="23" name="Tag2"/>
          <p:cNvSpPr/>
          <p:nvPr/>
        </p:nvSpPr>
        <p:spPr>
          <a:xfrm>
            <a:off x="4690000" y="4430000"/>
            <a:ext cx="2350000" cy="545000"/>
          </a:xfrm>
          <a:prstGeom prst="roundRect">
            <a:avLst>
              <a:gd name="adj" fmla="val 8500"/>
            </a:avLst>
          </a:prstGeom>
          <a:solidFill>
            <a:srgbClr val="2C8C7B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ag2T"/>
          <p:cNvSpPr txBox="1"/>
          <p:nvPr/>
        </p:nvSpPr>
        <p:spPr>
          <a:xfrm>
            <a:off x="4900000" y="4620000"/>
            <a:ext cx="2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训练时固定 seed 抽取 20000 个特征</a:t>
            </a:r>
          </a:p>
        </p:txBody>
      </p:sp>
      <p:sp>
        <p:nvSpPr>
          <p:cNvPr id="30" name="Code BG"/>
          <p:cNvSpPr/>
          <p:nvPr/>
        </p:nvSpPr>
        <p:spPr>
          <a:xfrm>
            <a:off x="7800000" y="2095500"/>
            <a:ext cx="3500000" cy="328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Code Text"/>
          <p:cNvSpPr txBox="1"/>
          <p:nvPr/>
        </p:nvSpPr>
        <p:spPr>
          <a:xfrm>
            <a:off x="7980000" y="2240500"/>
            <a:ext cx="3140000" cy="29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40" b="1" dirty="0">
                <a:solidFill>
                  <a:srgbClr val="D9F2EA"/>
                </a:solidFill>
                <a:latin typeface="Menlo"/>
                <a:ea typeface="Microsoft YaHei"/>
                <a:cs typeface="Menlo"/>
              </a:rPr>
              <a:t>代码对应：integral_image.py / haar_features.py</a:t>
            </a:r>
          </a:p>
          <a:p>
            <a:pPr algn="l"/>
            <a:r>
              <a:rPr lang="en-US" sz="80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integral = gray.cumsum(0).cumsum(1)</a:t>
            </a:r>
          </a:p>
          <a:p>
            <a:pPr algn="l"/>
            <a:r>
              <a:rPr lang="en-US" sz="80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return pad(integral, top=1, left=1)</a:t>
            </a:r>
          </a:p>
          <a:p>
            <a:pPr algn="l"/>
            <a:endParaRPr lang="en-US" sz="860" dirty="0">
              <a:solidFill>
                <a:srgbClr val="F7F3EC"/>
              </a:solidFill>
              <a:latin typeface="Menlo"/>
              <a:ea typeface="Microsoft YaHei"/>
              <a:cs typeface="Menlo"/>
            </a:endParaRPr>
          </a:p>
          <a:p>
            <a:pPr algn="l"/>
            <a:r>
              <a:rPr lang="en-US" sz="80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for rx, ry, rw, rh, weight in rects:</a:t>
            </a:r>
          </a:p>
          <a:p>
            <a:pPr algn="l"/>
            <a:r>
              <a:rPr lang="en-US" sz="80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    value += weight * rect_sum(...)</a:t>
            </a:r>
          </a:p>
          <a:p>
            <a:pPr algn="l"/>
            <a:endParaRPr lang="en-US" sz="860" dirty="0">
              <a:solidFill>
                <a:srgbClr val="F7F3EC"/>
              </a:solidFill>
              <a:latin typeface="Menlo"/>
              <a:ea typeface="Microsoft YaHei"/>
              <a:cs typeface="Menlo"/>
            </a:endParaRPr>
          </a:p>
          <a:p>
            <a:pPr algn="l"/>
            <a:r>
              <a:rPr lang="en-US" sz="80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matrix[:, col] = feature.values(integrals)</a:t>
            </a:r>
          </a:p>
        </p:txBody>
      </p:sp>
      <p:sp>
        <p:nvSpPr>
          <p:cNvPr id="40" name="Note"/>
          <p:cNvSpPr txBox="1"/>
          <p:nvPr/>
        </p:nvSpPr>
        <p:spPr>
          <a:xfrm>
            <a:off x="895350" y="5630000"/>
            <a:ext cx="10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不是调用 OpenCV 特征，而是自己定义特征、枚举特征，并用积分图完成批量计算。</a:t>
            </a:r>
          </a:p>
        </p:txBody>
      </p:sp>
      <p:sp>
        <p:nvSpPr>
          <p:cNvPr id="90" name="Page Number"/>
          <p:cNvSpPr txBox="1"/>
          <p:nvPr/>
        </p:nvSpPr>
        <p:spPr>
          <a:xfrm>
            <a:off x="11129296" y="6039802"/>
            <a:ext cx="26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Canvas"/>
          <p:cNvSpPr/>
          <p:nvPr/>
        </p:nvSpPr>
        <p:spPr>
          <a:xfrm>
            <a:off x="552450" y="419100"/>
            <a:ext cx="11087100" cy="60198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859155" y="701992"/>
            <a:ext cx="6500000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850" b="1" dirty="0">
                <a:solidFill>
                  <a:srgbClr val="16324F"/>
                </a:solidFill>
                <a:latin typeface="Georgia"/>
                <a:ea typeface="Microsoft YaHei"/>
                <a:cs typeface="Georgia"/>
              </a:rPr>
              <a:t>算法实现细节：AdaBoost 如何挑选弱分类器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2471617" y="1246236"/>
            <a:ext cx="80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训练阶段的核心是：在当前样本权重下，反复寻找最能区分人脸/非人脸的 Haar 特征</a:t>
            </a:r>
          </a:p>
        </p:txBody>
      </p:sp>
      <p:sp>
        <p:nvSpPr>
          <p:cNvPr id="7" name="Divider"/>
          <p:cNvSpPr/>
          <p:nvPr/>
        </p:nvSpPr>
        <p:spPr>
          <a:xfrm>
            <a:off x="895350" y="1524000"/>
            <a:ext cx="10401300" cy="9525"/>
          </a:xfrm>
          <a:custGeom>
            <a:avLst/>
            <a:gdLst/>
            <a:ahLst/>
            <a:cxnLst/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ag"/>
          <p:cNvSpPr txBox="1"/>
          <p:nvPr/>
        </p:nvSpPr>
        <p:spPr>
          <a:xfrm>
            <a:off x="895350" y="1760000"/>
            <a:ext cx="24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实现模块 02 / 训练核心</a:t>
            </a:r>
          </a:p>
        </p:txBody>
      </p:sp>
      <p:sp>
        <p:nvSpPr>
          <p:cNvPr id="11" name="Proc0"/>
          <p:cNvSpPr/>
          <p:nvPr/>
        </p:nvSpPr>
        <p:spPr>
          <a:xfrm>
            <a:off x="895350" y="2180000"/>
            <a:ext cx="2180000" cy="190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N0"/>
          <p:cNvSpPr txBox="1"/>
          <p:nvPr/>
        </p:nvSpPr>
        <p:spPr>
          <a:xfrm>
            <a:off x="1085350" y="238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3" name="T0"/>
          <p:cNvSpPr txBox="1"/>
          <p:nvPr/>
        </p:nvSpPr>
        <p:spPr>
          <a:xfrm>
            <a:off x="1085350" y="2730000"/>
            <a:ext cx="17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50" b="1" dirty="0">
                <a:solidFill>
                  <a:srgbClr val="F7F3EC"/>
                </a:solidFill>
                <a:latin typeface="Arial"/>
                <a:ea typeface="Microsoft YaHei"/>
                <a:cs typeface="Arial"/>
              </a:rPr>
              <a:t>初始化权重</a:t>
            </a:r>
          </a:p>
        </p:txBody>
      </p:sp>
      <p:sp>
        <p:nvSpPr>
          <p:cNvPr id="14" name="B0"/>
          <p:cNvSpPr txBox="1"/>
          <p:nvPr/>
        </p:nvSpPr>
        <p:spPr>
          <a:xfrm>
            <a:off x="1085350" y="3200000"/>
            <a:ext cx="178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50" dirty="0">
                <a:solidFill>
                  <a:srgbClr val="D9D2C5"/>
                </a:solidFill>
                <a:latin typeface="Arial"/>
                <a:ea typeface="Microsoft YaHei"/>
                <a:cs typeface="Arial"/>
              </a:rPr>
              <a:t>正负样本分别归一化，避免类别数量影响训练</a:t>
            </a:r>
          </a:p>
        </p:txBody>
      </p:sp>
      <p:sp>
        <p:nvSpPr>
          <p:cNvPr id="16" name="Proc1"/>
          <p:cNvSpPr/>
          <p:nvPr/>
        </p:nvSpPr>
        <p:spPr>
          <a:xfrm>
            <a:off x="3440000" y="2180000"/>
            <a:ext cx="2180000" cy="190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N1"/>
          <p:cNvSpPr txBox="1"/>
          <p:nvPr/>
        </p:nvSpPr>
        <p:spPr>
          <a:xfrm>
            <a:off x="3630000" y="238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8" name="T1"/>
          <p:cNvSpPr txBox="1"/>
          <p:nvPr/>
        </p:nvSpPr>
        <p:spPr>
          <a:xfrm>
            <a:off x="3630000" y="2730000"/>
            <a:ext cx="17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5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寻找最优弱分类器</a:t>
            </a:r>
          </a:p>
        </p:txBody>
      </p:sp>
      <p:sp>
        <p:nvSpPr>
          <p:cNvPr id="19" name="B1"/>
          <p:cNvSpPr txBox="1"/>
          <p:nvPr/>
        </p:nvSpPr>
        <p:spPr>
          <a:xfrm>
            <a:off x="3630000" y="3200000"/>
            <a:ext cx="178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按特征值排序，扫描阈值和 polarity，找最小加权错误率</a:t>
            </a:r>
          </a:p>
        </p:txBody>
      </p:sp>
      <p:sp>
        <p:nvSpPr>
          <p:cNvPr id="21" name="Proc2"/>
          <p:cNvSpPr/>
          <p:nvPr/>
        </p:nvSpPr>
        <p:spPr>
          <a:xfrm>
            <a:off x="5985000" y="2180000"/>
            <a:ext cx="2180000" cy="190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N2"/>
          <p:cNvSpPr txBox="1"/>
          <p:nvPr/>
        </p:nvSpPr>
        <p:spPr>
          <a:xfrm>
            <a:off x="6175000" y="238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23" name="T2"/>
          <p:cNvSpPr txBox="1"/>
          <p:nvPr/>
        </p:nvSpPr>
        <p:spPr>
          <a:xfrm>
            <a:off x="6175000" y="2730000"/>
            <a:ext cx="17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5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更新样本权重</a:t>
            </a:r>
          </a:p>
        </p:txBody>
      </p:sp>
      <p:sp>
        <p:nvSpPr>
          <p:cNvPr id="24" name="B2"/>
          <p:cNvSpPr txBox="1"/>
          <p:nvPr/>
        </p:nvSpPr>
        <p:spPr>
          <a:xfrm>
            <a:off x="6175000" y="3200000"/>
            <a:ext cx="178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错分样本权重升高，下一轮更关注 hard cases</a:t>
            </a:r>
          </a:p>
        </p:txBody>
      </p:sp>
      <p:sp>
        <p:nvSpPr>
          <p:cNvPr id="26" name="Proc3"/>
          <p:cNvSpPr/>
          <p:nvPr/>
        </p:nvSpPr>
        <p:spPr>
          <a:xfrm>
            <a:off x="8530000" y="2180000"/>
            <a:ext cx="2180000" cy="190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N3"/>
          <p:cNvSpPr txBox="1"/>
          <p:nvPr/>
        </p:nvSpPr>
        <p:spPr>
          <a:xfrm>
            <a:off x="8720000" y="238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50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28" name="T3"/>
          <p:cNvSpPr txBox="1"/>
          <p:nvPr/>
        </p:nvSpPr>
        <p:spPr>
          <a:xfrm>
            <a:off x="8720000" y="2730000"/>
            <a:ext cx="175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45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组合强分类器</a:t>
            </a:r>
          </a:p>
        </p:txBody>
      </p:sp>
      <p:sp>
        <p:nvSpPr>
          <p:cNvPr id="29" name="B3"/>
          <p:cNvSpPr txBox="1"/>
          <p:nvPr/>
        </p:nvSpPr>
        <p:spPr>
          <a:xfrm>
            <a:off x="8720000" y="3200000"/>
            <a:ext cx="178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用 alpha 加权投票，形成 stage 内的 StrongClassifier</a:t>
            </a:r>
          </a:p>
        </p:txBody>
      </p:sp>
      <p:sp>
        <p:nvSpPr>
          <p:cNvPr id="40" name="Insight"/>
          <p:cNvSpPr/>
          <p:nvPr/>
        </p:nvSpPr>
        <p:spPr>
          <a:xfrm>
            <a:off x="895350" y="4400000"/>
            <a:ext cx="5000000" cy="960000"/>
          </a:xfrm>
          <a:prstGeom prst="roundRect">
            <a:avLst>
              <a:gd name="adj" fmla="val 8500"/>
            </a:avLst>
          </a:prstGeom>
          <a:solidFill>
            <a:srgbClr val="F7F3EC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IT"/>
          <p:cNvSpPr txBox="1"/>
          <p:nvPr/>
        </p:nvSpPr>
        <p:spPr>
          <a:xfrm>
            <a:off x="1150000" y="4590000"/>
            <a:ext cx="17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0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实现上的关键优化</a:t>
            </a:r>
          </a:p>
        </p:txBody>
      </p:sp>
      <p:sp>
        <p:nvSpPr>
          <p:cNvPr id="42" name="Bullet"/>
          <p:cNvSpPr txBox="1"/>
          <p:nvPr/>
        </p:nvSpPr>
        <p:spPr>
          <a:xfrm>
            <a:off x="1150000" y="4920000"/>
            <a:ext cx="43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228600" indent="-152400" algn="l">
              <a:buChar char="•"/>
            </a:pPr>
            <a:r>
              <a:rPr lang="zh-CN" sz="9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预先对每一列特征值 argsort，训练时用累积权重快速扫阈值</a:t>
            </a:r>
          </a:p>
          <a:p>
            <a:pPr marL="228600" indent="-152400" algn="l">
              <a:buChar char="•"/>
            </a:pPr>
            <a:r>
              <a:rPr lang="zh-CN" sz="95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selected 数组避免同一个 Haar 特征被重复选中</a:t>
            </a:r>
          </a:p>
        </p:txBody>
      </p:sp>
      <p:sp>
        <p:nvSpPr>
          <p:cNvPr id="50" name="Code BG"/>
          <p:cNvSpPr/>
          <p:nvPr/>
        </p:nvSpPr>
        <p:spPr>
          <a:xfrm>
            <a:off x="6250000" y="4400000"/>
            <a:ext cx="5050000" cy="96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ode Text"/>
          <p:cNvSpPr txBox="1"/>
          <p:nvPr/>
        </p:nvSpPr>
        <p:spPr>
          <a:xfrm>
            <a:off x="6430000" y="4545000"/>
            <a:ext cx="4690000" cy="6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20" b="1" dirty="0">
                <a:solidFill>
                  <a:srgbClr val="D9F2EA"/>
                </a:solidFill>
                <a:latin typeface="Menlo"/>
                <a:ea typeface="Microsoft YaHei"/>
                <a:cs typeface="Menlo"/>
              </a:rPr>
              <a:t>代码对应：adaboost.py</a:t>
            </a:r>
          </a:p>
          <a:p>
            <a:pPr algn="l"/>
            <a:r>
              <a:rPr lang="en-US" sz="86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alpha = 0.5 * log((1 - err) / err)</a:t>
            </a:r>
          </a:p>
          <a:p>
            <a:pPr algn="l"/>
            <a:r>
              <a:rPr lang="en-US" sz="86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weights *= exp(-alpha * labels * preds)</a:t>
            </a:r>
          </a:p>
          <a:p>
            <a:pPr algn="l"/>
            <a:r>
              <a:rPr lang="en-US" sz="86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score += alpha * weak.predict_values(x_j)</a:t>
            </a:r>
          </a:p>
        </p:txBody>
      </p:sp>
      <p:sp>
        <p:nvSpPr>
          <p:cNvPr id="60" name="Note"/>
          <p:cNvSpPr txBox="1"/>
          <p:nvPr/>
        </p:nvSpPr>
        <p:spPr>
          <a:xfrm>
            <a:off x="895350" y="5630000"/>
            <a:ext cx="10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每个 stage 不是黑盒，而是若干个单特征弱分类器按可信度加权叠加。</a:t>
            </a:r>
          </a:p>
        </p:txBody>
      </p:sp>
      <p:sp>
        <p:nvSpPr>
          <p:cNvPr id="90" name="Page Number"/>
          <p:cNvSpPr txBox="1"/>
          <p:nvPr/>
        </p:nvSpPr>
        <p:spPr>
          <a:xfrm>
            <a:off x="11129296" y="6039802"/>
            <a:ext cx="26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Canvas"/>
          <p:cNvSpPr/>
          <p:nvPr/>
        </p:nvSpPr>
        <p:spPr>
          <a:xfrm>
            <a:off x="552450" y="419100"/>
            <a:ext cx="11087100" cy="60198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itle"/>
          <p:cNvSpPr txBox="1"/>
          <p:nvPr/>
        </p:nvSpPr>
        <p:spPr>
          <a:xfrm>
            <a:off x="859155" y="701992"/>
            <a:ext cx="6500000" cy="579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2850" b="1" dirty="0">
                <a:solidFill>
                  <a:srgbClr val="16324F"/>
                </a:solidFill>
                <a:latin typeface="Georgia"/>
                <a:ea typeface="Microsoft YaHei"/>
                <a:cs typeface="Georgia"/>
              </a:rPr>
              <a:t>算法实现细节：Cascade 检测与后处理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78205" y="1187768"/>
            <a:ext cx="8000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3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推理阶段用“逐级拒绝 + 多尺度搜索 + 框合并”把训练好的模型落到真实图片上</a:t>
            </a:r>
          </a:p>
        </p:txBody>
      </p:sp>
      <p:sp>
        <p:nvSpPr>
          <p:cNvPr id="7" name="Divider"/>
          <p:cNvSpPr/>
          <p:nvPr/>
        </p:nvSpPr>
        <p:spPr>
          <a:xfrm>
            <a:off x="895350" y="1524000"/>
            <a:ext cx="10401300" cy="9525"/>
          </a:xfrm>
          <a:custGeom>
            <a:avLst/>
            <a:gdLst/>
            <a:ahLst/>
            <a:cxnLst/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solidFill>
            <a:srgbClr val="000000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ag"/>
          <p:cNvSpPr txBox="1"/>
          <p:nvPr/>
        </p:nvSpPr>
        <p:spPr>
          <a:xfrm>
            <a:off x="895350" y="1760000"/>
            <a:ext cx="2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b="1" dirty="0">
                <a:solidFill>
                  <a:srgbClr val="2C8C7B"/>
                </a:solidFill>
                <a:latin typeface="Arial"/>
                <a:ea typeface="Microsoft YaHei"/>
                <a:cs typeface="Arial"/>
              </a:rPr>
              <a:t>实现模块 03 / 推理与后处理</a:t>
            </a:r>
          </a:p>
        </p:txBody>
      </p:sp>
      <p:sp>
        <p:nvSpPr>
          <p:cNvPr id="11" name="Cascade"/>
          <p:cNvSpPr/>
          <p:nvPr/>
        </p:nvSpPr>
        <p:spPr>
          <a:xfrm>
            <a:off x="895350" y="2130000"/>
            <a:ext cx="3200000" cy="340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CT"/>
          <p:cNvSpPr txBox="1"/>
          <p:nvPr/>
        </p:nvSpPr>
        <p:spPr>
          <a:xfrm>
            <a:off x="1160000" y="2350000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0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Cascade 级联筛选</a:t>
            </a:r>
          </a:p>
        </p:txBody>
      </p:sp>
      <p:sp>
        <p:nvSpPr>
          <p:cNvPr id="13" name="S1"/>
          <p:cNvSpPr/>
          <p:nvPr/>
        </p:nvSpPr>
        <p:spPr>
          <a:xfrm>
            <a:off x="1160000" y="2840000"/>
            <a:ext cx="2500000" cy="36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1T"/>
          <p:cNvSpPr txBox="1"/>
          <p:nvPr/>
        </p:nvSpPr>
        <p:spPr>
          <a:xfrm>
            <a:off x="1300000" y="2925000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30" b="1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Stage 1: 快速拒绝大量背景</a:t>
            </a:r>
          </a:p>
        </p:txBody>
      </p:sp>
      <p:sp>
        <p:nvSpPr>
          <p:cNvPr id="16" name="S2"/>
          <p:cNvSpPr/>
          <p:nvPr/>
        </p:nvSpPr>
        <p:spPr>
          <a:xfrm>
            <a:off x="1160000" y="3360000"/>
            <a:ext cx="2500000" cy="360000"/>
          </a:xfrm>
          <a:prstGeom prst="roundRect">
            <a:avLst>
              <a:gd name="adj" fmla="val 8500"/>
            </a:avLst>
          </a:prstGeom>
          <a:solidFill>
            <a:srgbClr val="F7F3EC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2T"/>
          <p:cNvSpPr txBox="1"/>
          <p:nvPr/>
        </p:nvSpPr>
        <p:spPr>
          <a:xfrm>
            <a:off x="1300000" y="3445000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3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Stage 2: 只处理存活窗口</a:t>
            </a:r>
          </a:p>
        </p:txBody>
      </p:sp>
      <p:sp>
        <p:nvSpPr>
          <p:cNvPr id="19" name="S3"/>
          <p:cNvSpPr/>
          <p:nvPr/>
        </p:nvSpPr>
        <p:spPr>
          <a:xfrm>
            <a:off x="1160000" y="3880000"/>
            <a:ext cx="2500000" cy="360000"/>
          </a:xfrm>
          <a:prstGeom prst="roundRect">
            <a:avLst>
              <a:gd name="adj" fmla="val 8500"/>
            </a:avLst>
          </a:prstGeom>
          <a:solidFill>
            <a:srgbClr val="F7F3EC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3T"/>
          <p:cNvSpPr txBox="1"/>
          <p:nvPr/>
        </p:nvSpPr>
        <p:spPr>
          <a:xfrm>
            <a:off x="1300000" y="3965000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3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Stage k: 继续压低误报</a:t>
            </a:r>
          </a:p>
        </p:txBody>
      </p:sp>
      <p:sp>
        <p:nvSpPr>
          <p:cNvPr id="22" name="S4"/>
          <p:cNvSpPr/>
          <p:nvPr/>
        </p:nvSpPr>
        <p:spPr>
          <a:xfrm>
            <a:off x="1160000" y="4400000"/>
            <a:ext cx="2500000" cy="360000"/>
          </a:xfrm>
          <a:prstGeom prst="roundRect">
            <a:avLst>
              <a:gd name="adj" fmla="val 8500"/>
            </a:avLst>
          </a:prstGeom>
          <a:solidFill>
            <a:srgbClr val="2C8C7B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4T"/>
          <p:cNvSpPr txBox="1"/>
          <p:nvPr/>
        </p:nvSpPr>
        <p:spPr>
          <a:xfrm>
            <a:off x="1300000" y="4485000"/>
            <a:ext cx="22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30" b="1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通过全部 stage → 候选人脸</a:t>
            </a:r>
          </a:p>
        </p:txBody>
      </p:sp>
      <p:sp>
        <p:nvSpPr>
          <p:cNvPr id="30" name="Win"/>
          <p:cNvSpPr/>
          <p:nvPr/>
        </p:nvSpPr>
        <p:spPr>
          <a:xfrm>
            <a:off x="4400000" y="2130000"/>
            <a:ext cx="3200000" cy="340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WT"/>
          <p:cNvSpPr txBox="1"/>
          <p:nvPr/>
        </p:nvSpPr>
        <p:spPr>
          <a:xfrm>
            <a:off x="4680000" y="235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00" b="1" dirty="0">
                <a:solidFill>
                  <a:srgbClr val="F7F3EC"/>
                </a:solidFill>
                <a:latin typeface="Arial"/>
                <a:ea typeface="Microsoft YaHei"/>
                <a:cs typeface="Arial"/>
              </a:rPr>
              <a:t>多尺度滑窗检测</a:t>
            </a:r>
          </a:p>
        </p:txBody>
      </p:sp>
      <p:sp>
        <p:nvSpPr>
          <p:cNvPr id="32" name="Bullet"/>
          <p:cNvSpPr txBox="1"/>
          <p:nvPr/>
        </p:nvSpPr>
        <p:spPr>
          <a:xfrm>
            <a:off x="4660000" y="2840000"/>
            <a:ext cx="2600000" cy="1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228600" indent="-152400" algn="l">
              <a:buChar char="•"/>
            </a:pPr>
            <a:r>
              <a:rPr lang="zh-CN" sz="106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图像金字塔覆盖不同大小人脸</a:t>
            </a:r>
          </a:p>
          <a:p>
            <a:pPr marL="228600" indent="-152400" algn="l">
              <a:buChar char="•"/>
            </a:pPr>
            <a:r>
              <a:rPr lang="zh-CN" sz="106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每个尺度生成 xs / ys 网格批量预测</a:t>
            </a:r>
          </a:p>
          <a:p>
            <a:pPr marL="228600" indent="-152400" algn="l">
              <a:buChar char="•"/>
            </a:pPr>
            <a:r>
              <a:rPr lang="zh-CN" sz="1060" dirty="0">
                <a:solidFill>
                  <a:srgbClr val="FFFDF9"/>
                </a:solidFill>
                <a:latin typeface="Arial"/>
                <a:ea typeface="Microsoft YaHei"/>
                <a:cs typeface="Arial"/>
              </a:rPr>
              <a:t>方差归一化已实现但最终默认关闭</a:t>
            </a:r>
          </a:p>
        </p:txBody>
      </p:sp>
      <p:sp>
        <p:nvSpPr>
          <p:cNvPr id="33" name="PT"/>
          <p:cNvSpPr txBox="1"/>
          <p:nvPr/>
        </p:nvSpPr>
        <p:spPr>
          <a:xfrm>
            <a:off x="4680000" y="4320000"/>
            <a:ext cx="25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050" b="1" dirty="0">
                <a:solidFill>
                  <a:srgbClr val="D9F2EA"/>
                </a:solidFill>
                <a:latin typeface="Arial"/>
                <a:ea typeface="Microsoft YaHei"/>
                <a:cs typeface="Arial"/>
              </a:rPr>
              <a:t>关键参数：scale_factor / step / min_size</a:t>
            </a:r>
          </a:p>
        </p:txBody>
      </p:sp>
      <p:sp>
        <p:nvSpPr>
          <p:cNvPr id="34" name="PN"/>
          <p:cNvSpPr txBox="1"/>
          <p:nvPr/>
        </p:nvSpPr>
        <p:spPr>
          <a:xfrm>
            <a:off x="4680000" y="4670000"/>
            <a:ext cx="2500000" cy="4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960" dirty="0">
                <a:solidFill>
                  <a:srgbClr val="D9D2C5"/>
                </a:solidFill>
                <a:latin typeface="Arial"/>
                <a:ea typeface="Microsoft YaHei"/>
                <a:cs typeface="Arial"/>
              </a:rPr>
              <a:t>这些参数共同决定检测速度、候选窗口密度和召回能力。</a:t>
            </a:r>
          </a:p>
        </p:txBody>
      </p:sp>
      <p:sp>
        <p:nvSpPr>
          <p:cNvPr id="40" name="Post"/>
          <p:cNvSpPr/>
          <p:nvPr/>
        </p:nvSpPr>
        <p:spPr>
          <a:xfrm>
            <a:off x="7900000" y="2130000"/>
            <a:ext cx="3400000" cy="3400000"/>
          </a:xfrm>
          <a:prstGeom prst="roundRect">
            <a:avLst>
              <a:gd name="adj" fmla="val 8500"/>
            </a:avLst>
          </a:prstGeom>
          <a:solidFill>
            <a:srgbClr val="FFFDF9"/>
          </a:solidFill>
          <a:ln w="14288">
            <a:solidFill>
              <a:srgbClr val="D9D2C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PostT"/>
          <p:cNvSpPr txBox="1"/>
          <p:nvPr/>
        </p:nvSpPr>
        <p:spPr>
          <a:xfrm>
            <a:off x="8180000" y="2350000"/>
            <a:ext cx="26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600" b="1" dirty="0">
                <a:solidFill>
                  <a:srgbClr val="16324F"/>
                </a:solidFill>
                <a:latin typeface="Arial"/>
                <a:ea typeface="Microsoft YaHei"/>
                <a:cs typeface="Arial"/>
              </a:rPr>
              <a:t>NMS 与邻域合并</a:t>
            </a:r>
          </a:p>
        </p:txBody>
      </p:sp>
      <p:sp>
        <p:nvSpPr>
          <p:cNvPr id="42" name="Bullet"/>
          <p:cNvSpPr txBox="1"/>
          <p:nvPr/>
        </p:nvSpPr>
        <p:spPr>
          <a:xfrm>
            <a:off x="8180000" y="2840000"/>
            <a:ext cx="2750000" cy="1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marL="228600" indent="-152400" algn="l">
              <a:buChar char="•"/>
            </a:pPr>
            <a:r>
              <a:rPr lang="zh-CN" sz="9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NMS 保留高分框，抑制重复框</a:t>
            </a:r>
          </a:p>
          <a:p>
            <a:pPr marL="228600" indent="-152400" algn="l">
              <a:buChar char="•"/>
            </a:pPr>
            <a:r>
              <a:rPr lang="zh-CN" sz="9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remove_contained_boxes 去掉被大框包含的小误检</a:t>
            </a:r>
          </a:p>
          <a:p>
            <a:pPr marL="228600" indent="-152400" algn="l">
              <a:buChar char="•"/>
            </a:pPr>
            <a:r>
              <a:rPr lang="zh-CN" sz="900" dirty="0">
                <a:solidFill>
                  <a:srgbClr val="1F2933"/>
                </a:solidFill>
                <a:latin typeface="Arial"/>
                <a:ea typeface="Microsoft YaHei"/>
                <a:cs typeface="Arial"/>
              </a:rPr>
              <a:t>min_neighbors 要求候选框成簇出现，降低孤立误报</a:t>
            </a:r>
          </a:p>
        </p:txBody>
      </p:sp>
      <p:sp>
        <p:nvSpPr>
          <p:cNvPr id="50" name="Code BG"/>
          <p:cNvSpPr/>
          <p:nvPr/>
        </p:nvSpPr>
        <p:spPr>
          <a:xfrm>
            <a:off x="8180000" y="4430000"/>
            <a:ext cx="2800000" cy="730000"/>
          </a:xfrm>
          <a:prstGeom prst="roundRect">
            <a:avLst>
              <a:gd name="adj" fmla="val 8500"/>
            </a:avLst>
          </a:prstGeom>
          <a:solidFill>
            <a:srgbClr val="16324F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Code Text"/>
          <p:cNvSpPr txBox="1"/>
          <p:nvPr/>
        </p:nvSpPr>
        <p:spPr>
          <a:xfrm>
            <a:off x="8360000" y="4575000"/>
            <a:ext cx="2440000" cy="4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840" b="1" dirty="0">
                <a:solidFill>
                  <a:srgbClr val="D9F2EA"/>
                </a:solidFill>
                <a:latin typeface="Menlo"/>
                <a:ea typeface="Microsoft YaHei"/>
                <a:cs typeface="Menlo"/>
              </a:rPr>
              <a:t>代码对应：Cascade / Sliding Window / NMS</a:t>
            </a:r>
          </a:p>
          <a:p>
            <a:pPr algn="l"/>
            <a:r>
              <a:rPr lang="en-US" sz="84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低于阈值 → 立即拒绝</a:t>
            </a:r>
          </a:p>
          <a:p>
            <a:pPr algn="l"/>
            <a:r>
              <a:rPr lang="en-US" sz="840" dirty="0">
                <a:solidFill>
                  <a:srgbClr val="F7F3EC"/>
                </a:solidFill>
                <a:latin typeface="Menlo"/>
                <a:ea typeface="Microsoft YaHei"/>
                <a:cs typeface="Menlo"/>
              </a:rPr>
              <a:t>候选框聚类 → NMS 合并</a:t>
            </a:r>
          </a:p>
        </p:txBody>
      </p:sp>
      <p:sp>
        <p:nvSpPr>
          <p:cNvPr id="60" name="Note"/>
          <p:cNvSpPr txBox="1"/>
          <p:nvPr/>
        </p:nvSpPr>
        <p:spPr>
          <a:xfrm>
            <a:off x="895350" y="5630000"/>
            <a:ext cx="10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l"/>
            <a:r>
              <a:rPr lang="zh-CN" sz="1250" dirty="0">
                <a:solidFill>
                  <a:srgbClr val="5B6573"/>
                </a:solidFill>
                <a:latin typeface="Arial"/>
                <a:ea typeface="Microsoft YaHei"/>
                <a:cs typeface="Arial"/>
              </a:rPr>
              <a:t>最终效果不只来自分类器，还来自多尺度搜索、min_neighbors 和聚类合并后处理。</a:t>
            </a:r>
          </a:p>
        </p:txBody>
      </p:sp>
      <p:sp>
        <p:nvSpPr>
          <p:cNvPr id="90" name="Page Number"/>
          <p:cNvSpPr txBox="1"/>
          <p:nvPr/>
        </p:nvSpPr>
        <p:spPr>
          <a:xfrm>
            <a:off x="11129296" y="6039802"/>
            <a:ext cx="26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15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数据集构建与预处理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训练数据、测试数据与输入窗口标准化策略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95350" y="1981200"/>
            <a:ext cx="11054715" cy="3543300"/>
            <a:chOff x="895350" y="1981200"/>
            <a:chExt cx="11054715" cy="3543300"/>
          </a:xfrm>
        </p:grpSpPr>
        <p:sp>
          <p:nvSpPr>
            <p:cNvPr id="9" name="Rectangle 9"/>
            <p:cNvSpPr/>
            <p:nvPr/>
          </p:nvSpPr>
          <p:spPr>
            <a:xfrm>
              <a:off x="895350" y="1981200"/>
              <a:ext cx="3333750" cy="3543300"/>
            </a:xfrm>
            <a:prstGeom prst="roundRect">
              <a:avLst>
                <a:gd name="adj" fmla="val 800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2059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训练数据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3005" y="2787968"/>
              <a:ext cx="28246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正样本来源：WIDER FACE 裁切人脸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3005" y="3111818"/>
              <a:ext cx="2707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v3：1000 张正样本，增强后 4000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3005" y="3435668"/>
              <a:ext cx="21405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v6 / v6.1：3000 正样本，增强后 12000 / 21000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3005" y="3759518"/>
              <a:ext cx="256360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负样本：非人脸场景随机 patch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4910" y="4309110"/>
              <a:ext cx="29748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训练窗口统一缩放为 24×24 灰度 patch，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84910" y="4575810"/>
              <a:ext cx="3254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与经典 Viola-Jones 设定一致。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495800" y="1981200"/>
              <a:ext cx="3048000" cy="3543300"/>
            </a:xfrm>
            <a:prstGeom prst="roundRect">
              <a:avLst>
                <a:gd name="adj" fmla="val 875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77740" y="22059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测试数据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83455" y="2787968"/>
              <a:ext cx="17985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LFW：200 张标注图片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83455" y="311181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主要评估正面人脸检测效果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83455" y="3664268"/>
              <a:ext cx="17985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Caltech Web Faces：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83455" y="3950018"/>
              <a:ext cx="23745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复杂角度、遮挡与小人脸场景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85360" y="4499610"/>
              <a:ext cx="24707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因此 LFW 更像“正面场景上限”，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85360" y="4766310"/>
              <a:ext cx="25747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Caltech 更能体现方法边界。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1981200"/>
              <a:ext cx="3486150" cy="3543300"/>
            </a:xfrm>
            <a:prstGeom prst="roundRect">
              <a:avLst>
                <a:gd name="adj" fmla="val 765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92440" y="22059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输入预处理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98155" y="2787968"/>
              <a:ext cx="28066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任意训练 patch 首先缩放到 24×24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8155" y="3111818"/>
              <a:ext cx="29776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检测阶段可选 CLAHE 增强低对比场景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98155" y="3664268"/>
              <a:ext cx="25546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训练阶段主要做 24×24 缩放，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98155" y="3950018"/>
              <a:ext cx="30946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CLAHE 与方差归一化保留为可选项。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92440" y="4499610"/>
              <a:ext cx="385762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这样能把训练、检测和参数分析对应起来，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00060" y="47663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也更容易解释每一步效果来源。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16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24666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训练策略演进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57950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性能提升来自数据、参数与后处理的持续迭代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5350" y="1981200"/>
            <a:ext cx="3991684" cy="3733800"/>
            <a:chOff x="895350" y="1981200"/>
            <a:chExt cx="3991684" cy="3733800"/>
          </a:xfrm>
        </p:grpSpPr>
        <p:sp>
          <p:nvSpPr>
            <p:cNvPr id="9" name="Rectangle 9"/>
            <p:cNvSpPr/>
            <p:nvPr/>
          </p:nvSpPr>
          <p:spPr>
            <a:xfrm>
              <a:off x="895350" y="1981200"/>
              <a:ext cx="3695700" cy="3733800"/>
            </a:xfrm>
            <a:prstGeom prst="roundRect">
              <a:avLst>
                <a:gd name="adj" fmla="val 7216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2050" y="2348442"/>
              <a:ext cx="3162300" cy="1932517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1144905" y="4673918"/>
              <a:ext cx="1404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v6.1 的关键变化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6059" y="5011768"/>
              <a:ext cx="399097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在翻转与亮度增强之外，引入 gamma 校正与高斯噪声，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6810" y="5280660"/>
              <a:ext cx="24467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最终将增强规模从 ×4 扩展到 ×7。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72050" y="1981200"/>
            <a:ext cx="7977549" cy="3733800"/>
            <a:chOff x="4972050" y="1981200"/>
            <a:chExt cx="7977549" cy="3733800"/>
          </a:xfrm>
        </p:grpSpPr>
        <p:sp>
          <p:nvSpPr>
            <p:cNvPr id="15" name="Rectangle 15"/>
            <p:cNvSpPr/>
            <p:nvPr/>
          </p:nvSpPr>
          <p:spPr>
            <a:xfrm>
              <a:off x="4972050" y="1981200"/>
              <a:ext cx="6324600" cy="838200"/>
            </a:xfrm>
            <a:prstGeom prst="roundRect">
              <a:avLst>
                <a:gd name="adj" fmla="val 2500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74945" y="2279332"/>
              <a:ext cx="231754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阶段 1：基础训练 → v3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80660" y="2594610"/>
              <a:ext cx="532714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1000 正样本、8 级级联，先建立可评估基线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972050" y="3009900"/>
              <a:ext cx="6324600" cy="8382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74945" y="3308032"/>
              <a:ext cx="353044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阶段 2：更多数据与更深级联 → v6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80660" y="3623310"/>
              <a:ext cx="59672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正样本增至 3000，级联扩到 10 级，LFW 指标继续提升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972050" y="4038600"/>
              <a:ext cx="6324600" cy="8382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4945" y="4336732"/>
              <a:ext cx="372682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阶段 3：增强扩展与参数打磨 → v6.1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0660" y="4652010"/>
              <a:ext cx="53431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常规点 F1=1.000，严格点 F1≈0.959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972050" y="5067300"/>
              <a:ext cx="6324600" cy="647700"/>
            </a:xfrm>
            <a:prstGeom prst="roundRect">
              <a:avLst>
                <a:gd name="adj" fmla="val 29412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8755" y="5302568"/>
              <a:ext cx="56000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结论：提升来自数据规模、增强多样性与合理后处理的组合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17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训练过程可视化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用训练日志解释模型是怎样逐级筛掉负样本的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0000" y="2120000"/>
              <a:ext cx="5850000" cy="254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  <p:sp>
          <p:nvSpPr>
            <p:cNvPr id="12" name="Rectangle 12"/>
            <p:cNvSpPr/>
            <p:nvPr/>
          </p:nvSpPr>
          <p:spPr>
            <a:xfrm>
              <a:off x="89535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0" y="5286375"/>
              <a:ext cx="12812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正样本通过稳定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810" y="558546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10000"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阈值按 &gt;=99.5% 正样本通过率选择，优先保证 Recall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57700" y="5048250"/>
            <a:ext cx="4370451" cy="876300"/>
            <a:chOff x="4457700" y="5048250"/>
            <a:chExt cx="4370451" cy="876300"/>
          </a:xfrm>
        </p:grpSpPr>
        <p:sp>
          <p:nvSpPr>
            <p:cNvPr id="16" name="Rectangle 16"/>
            <p:cNvSpPr/>
            <p:nvPr/>
          </p:nvSpPr>
          <p:spPr>
            <a:xfrm>
              <a:off x="445770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528637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负样本通过数波动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9160" y="558546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v6.1 各级约 1686-2103 个负样本通过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  <p:sp>
          <p:nvSpPr>
            <p:cNvPr id="20" name="Rectangle 20"/>
            <p:cNvSpPr/>
            <p:nvPr/>
          </p:nvSpPr>
          <p:spPr>
            <a:xfrm>
              <a:off x="8020050" y="5048250"/>
              <a:ext cx="3276600" cy="876300"/>
            </a:xfrm>
            <a:prstGeom prst="roundRect">
              <a:avLst>
                <a:gd name="adj" fmla="val 23913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52863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HNM 池缩小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1510" y="5585460"/>
              <a:ext cx="32148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10000"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固定难例池从 3385 缩到 517，说明训练逐步聚焦困难样本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18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级联 FPR 诊断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v6.1 的每级误报率偏高，解释为什么后处理参数非常关键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20000" y="2120000"/>
              <a:ext cx="5850000" cy="254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  <p:sp>
          <p:nvSpPr>
            <p:cNvPr id="12" name="Rectangle 12"/>
            <p:cNvSpPr/>
            <p:nvPr/>
          </p:nvSpPr>
          <p:spPr>
            <a:xfrm>
              <a:off x="89535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0" y="5286375"/>
              <a:ext cx="12174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每级 FPR 偏高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810" y="558546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10000"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实际单级 FPR 约 67% - 84%，高于论文理想目标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57700" y="5048250"/>
            <a:ext cx="4370451" cy="876300"/>
            <a:chOff x="4457700" y="5048250"/>
            <a:chExt cx="4370451" cy="876300"/>
          </a:xfrm>
        </p:grpSpPr>
        <p:sp>
          <p:nvSpPr>
            <p:cNvPr id="16" name="Rectangle 16"/>
            <p:cNvSpPr/>
            <p:nvPr/>
          </p:nvSpPr>
          <p:spPr>
            <a:xfrm>
              <a:off x="445770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528637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累积误报不够低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09160" y="5585460"/>
              <a:ext cx="41189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级联本身过滤能力有限，需要后处理补偿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  <p:sp>
          <p:nvSpPr>
            <p:cNvPr id="20" name="Rectangle 20"/>
            <p:cNvSpPr/>
            <p:nvPr/>
          </p:nvSpPr>
          <p:spPr>
            <a:xfrm>
              <a:off x="8020050" y="5048250"/>
              <a:ext cx="3276600" cy="876300"/>
            </a:xfrm>
            <a:prstGeom prst="roundRect">
              <a:avLst>
                <a:gd name="adj" fmla="val 23913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52863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要点</a:t>
              </a:r>
              <a:endParaRPr lang="zh-CN" sz="1500" b="1" dirty="0">
                <a:solidFill>
                  <a:srgbClr val="16324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1510" y="5585460"/>
              <a:ext cx="32148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20000"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最终效果不是只靠 Cascade，而是 Cascade + min_neighbors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19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模型版本迭代与消融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51559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v3、v6、v6.1 体现了样本规模、增强策略与模型容量的连续提升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0000" y="2260000"/>
              <a:ext cx="5600000" cy="1974000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895350" y="5044441"/>
            <a:ext cx="11484619" cy="861059"/>
            <a:chOff x="895350" y="5044441"/>
            <a:chExt cx="11484619" cy="861059"/>
          </a:xfrm>
        </p:grpSpPr>
        <p:sp>
          <p:nvSpPr>
            <p:cNvPr id="12" name="Rectangle 12"/>
            <p:cNvSpPr/>
            <p:nvPr/>
          </p:nvSpPr>
          <p:spPr>
            <a:xfrm>
              <a:off x="895350" y="5067300"/>
              <a:ext cx="3276600" cy="838200"/>
            </a:xfrm>
            <a:prstGeom prst="roundRect">
              <a:avLst>
                <a:gd name="adj" fmla="val 2500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4905" y="5397818"/>
              <a:ext cx="31248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v3 → v6：数据量和级联容量显著提升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457700" y="5067300"/>
              <a:ext cx="3276600" cy="838200"/>
            </a:xfrm>
            <a:prstGeom prst="roundRect">
              <a:avLst>
                <a:gd name="adj" fmla="val 2500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55481" y="5395912"/>
              <a:ext cx="32854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v6 → v6.1：增强多样性主要提升鲁棒性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072696" y="5044441"/>
              <a:ext cx="3276600" cy="838200"/>
            </a:xfrm>
            <a:prstGeom prst="roundRect">
              <a:avLst>
                <a:gd name="adj" fmla="val 25000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42950" y="5286377"/>
              <a:ext cx="4037019" cy="55244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两者同为 10 级 / 525 弱</a:t>
              </a:r>
              <a:endParaRPr lang="en-US" altLang="zh-CN" sz="1350" b="1" dirty="0">
                <a:solidFill>
                  <a:srgbClr val="16324F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35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LFW 严格点基本持平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20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84341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Benchmark 结果对比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8948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用真实评估图展示最终结果，同时点出复杂场景下的能力边界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5350" y="1943100"/>
            <a:ext cx="10401300" cy="2895600"/>
            <a:chOff x="895350" y="1943100"/>
            <a:chExt cx="10401300" cy="2895600"/>
          </a:xfrm>
        </p:grpSpPr>
        <p:sp>
          <p:nvSpPr>
            <p:cNvPr id="9" name="Rectangle 9"/>
            <p:cNvSpPr/>
            <p:nvPr/>
          </p:nvSpPr>
          <p:spPr>
            <a:xfrm>
              <a:off x="895350" y="1943100"/>
              <a:ext cx="10401300" cy="2895600"/>
            </a:xfrm>
            <a:prstGeom prst="roundRect">
              <a:avLst>
                <a:gd name="adj" fmla="val 921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20000" y="2190000"/>
              <a:ext cx="4650000" cy="230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895350" y="5048250"/>
            <a:ext cx="3295650" cy="876300"/>
            <a:chOff x="895350" y="5048250"/>
            <a:chExt cx="3295650" cy="876300"/>
          </a:xfrm>
        </p:grpSpPr>
        <p:sp>
          <p:nvSpPr>
            <p:cNvPr id="12" name="Rectangle 12"/>
            <p:cNvSpPr/>
            <p:nvPr/>
          </p:nvSpPr>
          <p:spPr>
            <a:xfrm>
              <a:off x="89535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3000" y="5286375"/>
              <a:ext cx="9097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LFW 结论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6810" y="5585460"/>
              <a:ext cx="29668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常规点：v6.1 P/R/F1 = 1.000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57700" y="5048250"/>
            <a:ext cx="3295650" cy="876300"/>
            <a:chOff x="4457700" y="5048250"/>
            <a:chExt cx="3295650" cy="876300"/>
          </a:xfrm>
        </p:grpSpPr>
        <p:sp>
          <p:nvSpPr>
            <p:cNvPr id="16" name="Rectangle 16"/>
            <p:cNvSpPr/>
            <p:nvPr/>
          </p:nvSpPr>
          <p:spPr>
            <a:xfrm>
              <a:off x="4457700" y="5048250"/>
              <a:ext cx="3295650" cy="876300"/>
            </a:xfrm>
            <a:prstGeom prst="roundRect">
              <a:avLst>
                <a:gd name="adj" fmla="val 23913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5350" y="5286375"/>
              <a:ext cx="15292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与 OpenCV 对比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29150" y="5511800"/>
              <a:ext cx="2933700" cy="4127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OpenCV LFW F1=0.980；严格点 v6/v6.1≈0.96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20050" y="5048250"/>
            <a:ext cx="3466338" cy="876300"/>
            <a:chOff x="8020050" y="5048250"/>
            <a:chExt cx="3466338" cy="876300"/>
          </a:xfrm>
        </p:grpSpPr>
        <p:sp>
          <p:nvSpPr>
            <p:cNvPr id="20" name="Rectangle 20"/>
            <p:cNvSpPr/>
            <p:nvPr/>
          </p:nvSpPr>
          <p:spPr>
            <a:xfrm>
              <a:off x="8020050" y="5048250"/>
              <a:ext cx="3276600" cy="876300"/>
            </a:xfrm>
            <a:prstGeom prst="roundRect">
              <a:avLst>
                <a:gd name="adj" fmla="val 23913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67700" y="52863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复杂场景提醒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71510" y="5585460"/>
              <a:ext cx="32148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Caltech：OpenCV F1=0.824，自实现 v6.1 F1=0.619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21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  <p:bldP spid="2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404814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366383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典型案例与边界现象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定量指标之外，也要展示方法在具体图像上的表现与边界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5349" y="1890713"/>
            <a:ext cx="3863888" cy="3843337"/>
            <a:chOff x="895349" y="1890713"/>
            <a:chExt cx="3863888" cy="3843337"/>
          </a:xfrm>
        </p:grpSpPr>
        <p:sp>
          <p:nvSpPr>
            <p:cNvPr id="9" name="Rectangle 9"/>
            <p:cNvSpPr/>
            <p:nvPr/>
          </p:nvSpPr>
          <p:spPr>
            <a:xfrm>
              <a:off x="895349" y="1890713"/>
              <a:ext cx="3805761" cy="3843337"/>
            </a:xfrm>
            <a:prstGeom prst="roundRect">
              <a:avLst>
                <a:gd name="adj" fmla="val 8333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7290" y="220599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案例页想表达什么？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3476" y="2787968"/>
              <a:ext cx="38057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1. OpenCV 在部分样本上会出现误检或框不稳定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6978" y="3154680"/>
              <a:ext cx="33467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2. 自实现模型在正面人脸场景下框更稳定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1978" y="3521392"/>
              <a:ext cx="3166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5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3. 但这并不代表经典方法已经没有边界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4910" y="411861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复杂姿态、小人脸、遮挡场景仍然是后续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84910" y="43853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需要更强模型或更大数据才能解决的问题。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01110" y="1830609"/>
            <a:ext cx="6896100" cy="4006410"/>
            <a:chOff x="4400550" y="1844895"/>
            <a:chExt cx="6896100" cy="4006410"/>
          </a:xfrm>
        </p:grpSpPr>
        <p:sp>
          <p:nvSpPr>
            <p:cNvPr id="17" name="Rectangle 17"/>
            <p:cNvSpPr/>
            <p:nvPr/>
          </p:nvSpPr>
          <p:spPr>
            <a:xfrm>
              <a:off x="4400550" y="1962150"/>
              <a:ext cx="6896100" cy="3771900"/>
            </a:xfrm>
            <a:prstGeom prst="roundRect">
              <a:avLst>
                <a:gd name="adj" fmla="val 7071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55067" y="1844895"/>
              <a:ext cx="3248948" cy="4006410"/>
            </a:xfrm>
            <a:prstGeom prst="rect">
              <a:avLst/>
            </a:prstGeom>
          </p:spPr>
        </p:pic>
      </p:grpSp>
      <p:sp>
        <p:nvSpPr>
          <p:cNvPr id="20" name="TextBox 20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22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552450" y="419100"/>
              <a:ext cx="11087100" cy="6019800"/>
            </a:xfrm>
            <a:prstGeom prst="roundRect">
              <a:avLst>
                <a:gd name="adj" fmla="val 5380"/>
              </a:avLst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9155" y="701992"/>
            <a:ext cx="10437495" cy="831533"/>
            <a:chOff x="859155" y="701992"/>
            <a:chExt cx="10437495" cy="831533"/>
          </a:xfrm>
        </p:grpSpPr>
        <p:sp>
          <p:nvSpPr>
            <p:cNvPr id="5" name="TextBox 5"/>
            <p:cNvSpPr txBox="1"/>
            <p:nvPr/>
          </p:nvSpPr>
          <p:spPr>
            <a:xfrm>
              <a:off x="859155" y="701992"/>
              <a:ext cx="4062889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2850" b="1" dirty="0">
                  <a:solidFill>
                    <a:srgbClr val="16324F"/>
                  </a:solidFill>
                  <a:latin typeface="Georgia"/>
                  <a:ea typeface="Microsoft YaHei"/>
                  <a:cs typeface="Georgia"/>
                </a:rPr>
                <a:t>项目亮点、问题与解决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78205" y="1187768"/>
              <a:ext cx="47148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3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除结果指标外，项目更有价值的是调试与反思过程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95350" y="1524000"/>
              <a:ext cx="10401300" cy="9525"/>
            </a:xfrm>
            <a:custGeom>
              <a:avLst/>
              <a:gdLst/>
              <a:ahLst/>
              <a:cxnLst/>
              <a:rect l="l" t="t" r="r" b="b"/>
              <a:pathLst>
                <a:path w="10401300" h="9525">
                  <a:moveTo>
                    <a:pt x="0" y="0"/>
                  </a:moveTo>
                  <a:lnTo>
                    <a:pt x="10401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5350" y="1962150"/>
            <a:ext cx="2438400" cy="3733800"/>
            <a:chOff x="895350" y="1962150"/>
            <a:chExt cx="2438400" cy="3733800"/>
          </a:xfrm>
        </p:grpSpPr>
        <p:sp>
          <p:nvSpPr>
            <p:cNvPr id="9" name="Rectangle 9"/>
            <p:cNvSpPr/>
            <p:nvPr/>
          </p:nvSpPr>
          <p:spPr>
            <a:xfrm>
              <a:off x="895350" y="1962150"/>
              <a:ext cx="2438400" cy="3733800"/>
            </a:xfrm>
            <a:prstGeom prst="roundRect">
              <a:avLst>
                <a:gd name="adj" fmla="val 10938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8242" y="2214086"/>
              <a:ext cx="67179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亮点 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81100" y="26384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FFFDF9"/>
                  </a:solidFill>
                  <a:latin typeface="Arial"/>
                  <a:ea typeface="Microsoft YaHei"/>
                  <a:cs typeface="Arial"/>
                </a:rPr>
                <a:t>从零实现完整链路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84910" y="320421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不依赖深度学习框架，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84910" y="34709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逐模块完成积分图、特征、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4910" y="37376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D9D2C5"/>
                  </a:solidFill>
                  <a:latin typeface="Arial"/>
                  <a:ea typeface="Microsoft YaHei"/>
                  <a:cs typeface="Arial"/>
                </a:rPr>
                <a:t>训练、检测与后处理实现。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19500" y="1962150"/>
            <a:ext cx="3832479" cy="3733800"/>
            <a:chOff x="3619500" y="1962150"/>
            <a:chExt cx="3832479" cy="3733800"/>
          </a:xfrm>
        </p:grpSpPr>
        <p:sp>
          <p:nvSpPr>
            <p:cNvPr id="16" name="Rectangle 16"/>
            <p:cNvSpPr/>
            <p:nvPr/>
          </p:nvSpPr>
          <p:spPr>
            <a:xfrm>
              <a:off x="3619500" y="1962150"/>
              <a:ext cx="2438400" cy="3733800"/>
            </a:xfrm>
            <a:prstGeom prst="roundRect">
              <a:avLst>
                <a:gd name="adj" fmla="val 10938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02392" y="2214086"/>
              <a:ext cx="671793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问题 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05250" y="2638425"/>
              <a:ext cx="1638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大量误检怎么办？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09060" y="32042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通过审计级联行为发现，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09060" y="3470910"/>
              <a:ext cx="19027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92500"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单靠级联 FP 率不够，需配合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09060" y="3774945"/>
              <a:ext cx="3542919" cy="5779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`min_neighbors` 与 </a:t>
              </a:r>
              <a:endParaRPr lang="en-US" alt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`score_threshold` 补偿。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343650" y="1962150"/>
            <a:ext cx="3512439" cy="3733800"/>
            <a:chOff x="6343650" y="1962150"/>
            <a:chExt cx="3512439" cy="3733800"/>
          </a:xfrm>
        </p:grpSpPr>
        <p:sp>
          <p:nvSpPr>
            <p:cNvPr id="23" name="Rectangle 23"/>
            <p:cNvSpPr/>
            <p:nvPr/>
          </p:nvSpPr>
          <p:spPr>
            <a:xfrm>
              <a:off x="6343650" y="1962150"/>
              <a:ext cx="2438400" cy="3733800"/>
            </a:xfrm>
            <a:prstGeom prst="roundRect">
              <a:avLst>
                <a:gd name="adj" fmla="val 10938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26542" y="2214086"/>
              <a:ext cx="73217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问题 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29400" y="2638425"/>
              <a:ext cx="1438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重叠框与框漂移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33210" y="3204210"/>
              <a:ext cx="24947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`groupRectangles` 难以稳妥处理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33210" y="34709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跨尺度合并，因此设计了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33210" y="3737610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 fontScale="85000" lnSpcReduction="20000"/>
            </a:bodyPr>
            <a:lstStyle/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`_cluster_weighted_merge` </a:t>
              </a:r>
              <a:endParaRPr lang="en-US" altLang="zh-CN" sz="1200" dirty="0">
                <a:solidFill>
                  <a:srgbClr val="5B6573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2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与平滑跟踪。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67800" y="1962150"/>
            <a:ext cx="2372833" cy="3733800"/>
            <a:chOff x="9067800" y="1962150"/>
            <a:chExt cx="2372833" cy="3733800"/>
          </a:xfrm>
        </p:grpSpPr>
        <p:sp>
          <p:nvSpPr>
            <p:cNvPr id="30" name="Rectangle 30"/>
            <p:cNvSpPr/>
            <p:nvPr/>
          </p:nvSpPr>
          <p:spPr>
            <a:xfrm>
              <a:off x="9067800" y="1962150"/>
              <a:ext cx="2228850" cy="3733800"/>
            </a:xfrm>
            <a:prstGeom prst="roundRect">
              <a:avLst>
                <a:gd name="adj" fmla="val 11966"/>
              </a:avLst>
            </a:prstGeom>
            <a:solidFill>
              <a:srgbClr val="2C8C7B">
                <a:alpha val="12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31642" y="2214086"/>
              <a:ext cx="1009936" cy="350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725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项目价值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38310" y="280416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它不只得到一个结果，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38310" y="3070860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更重要的是留下了一套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38310" y="3337559"/>
              <a:ext cx="2102323" cy="46291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可解释、可复核、可继续</a:t>
              </a:r>
              <a:endParaRPr lang="en-US" alt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endParaRPr>
            </a:p>
            <a:p>
              <a:r>
                <a:rPr 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迭代</a:t>
              </a:r>
              <a:r>
                <a:rPr lang="zh-CN" altLang="zh-CN" sz="12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的课程项目实现路径。</a:t>
              </a:r>
            </a:p>
            <a:p>
              <a:pPr algn="l"/>
              <a:endParaRPr lang="zh-CN" sz="1200" dirty="0">
                <a:solidFill>
                  <a:srgbClr val="1F2933"/>
                </a:solidFill>
                <a:latin typeface="Arial"/>
                <a:ea typeface="Microsoft YaHei"/>
                <a:cs typeface="Arial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9" grpId="0"/>
      <p:bldP spid="3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95250"/>
            <a:ext cx="12192000" cy="6953250"/>
            <a:chOff x="0" y="-95250"/>
            <a:chExt cx="12192000" cy="6953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7F3E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Ellipse 3"/>
            <p:cNvSpPr/>
            <p:nvPr/>
          </p:nvSpPr>
          <p:spPr>
            <a:xfrm>
              <a:off x="9239250" y="-95250"/>
              <a:ext cx="2438400" cy="2438400"/>
            </a:xfrm>
            <a:prstGeom prst="ellipse">
              <a:avLst/>
            </a:prstGeom>
            <a:solidFill>
              <a:srgbClr val="FFFDF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Ellipse 4"/>
            <p:cNvSpPr/>
            <p:nvPr/>
          </p:nvSpPr>
          <p:spPr>
            <a:xfrm>
              <a:off x="800100" y="4991100"/>
              <a:ext cx="1828800" cy="1828800"/>
            </a:xfrm>
            <a:prstGeom prst="ellipse">
              <a:avLst/>
            </a:prstGeom>
            <a:solidFill>
              <a:srgbClr val="2C8C7B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9630" y="754380"/>
            <a:ext cx="5954553" cy="867251"/>
            <a:chOff x="849630" y="754380"/>
            <a:chExt cx="5954553" cy="867251"/>
          </a:xfrm>
        </p:grpSpPr>
        <p:sp>
          <p:nvSpPr>
            <p:cNvPr id="6" name="TextBox 6"/>
            <p:cNvSpPr txBox="1"/>
            <p:nvPr/>
          </p:nvSpPr>
          <p:spPr>
            <a:xfrm>
              <a:off x="849630" y="754380"/>
              <a:ext cx="56361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3600" b="1" dirty="0">
                  <a:gradFill>
                    <a:gsLst>
                      <a:gs pos="0">
                        <a:srgbClr val="16324F"/>
                      </a:gs>
                      <a:gs pos="100000">
                        <a:srgbClr val="2C8C7B"/>
                      </a:gs>
                    </a:gsLst>
                    <a:lin ang="0" scaled="1"/>
                  </a:gradFill>
                  <a:latin typeface="Georgia"/>
                  <a:ea typeface="Microsoft YaHei"/>
                  <a:cs typeface="Georgia"/>
                </a:rPr>
                <a:t>局限性、改进方向与总结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7252" y="1332071"/>
              <a:ext cx="5926931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最后用三句话概括结论：做成了什么、还差什么、下一步做什么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5350" y="2038350"/>
            <a:ext cx="10401300" cy="3486150"/>
            <a:chOff x="895350" y="2038350"/>
            <a:chExt cx="10401300" cy="3486150"/>
          </a:xfrm>
        </p:grpSpPr>
        <p:sp>
          <p:nvSpPr>
            <p:cNvPr id="9" name="Rectangle 9"/>
            <p:cNvSpPr/>
            <p:nvPr/>
          </p:nvSpPr>
          <p:spPr>
            <a:xfrm>
              <a:off x="895350" y="2038350"/>
              <a:ext cx="10401300" cy="3486150"/>
            </a:xfrm>
            <a:prstGeom prst="roundRect">
              <a:avLst>
                <a:gd name="adj" fmla="val 9290"/>
              </a:avLst>
            </a:prstGeom>
            <a:solidFill>
              <a:srgbClr val="FFFDF9"/>
            </a:solidFill>
            <a:ln w="14288">
              <a:solidFill>
                <a:srgbClr val="D9D2C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5390" y="23583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总结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9200" y="2867025"/>
              <a:ext cx="94992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1. 项目完成了 Viola-Jones 经典检测链路的从零实现，并形成可评估、可演示、可解释的闭环。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19200" y="3324225"/>
              <a:ext cx="92592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2. 通过数据扩展、×7 增强与后处理优化，最终版在 LFW 常规操作点达到 F1 = 1.000。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19200" y="3781425"/>
              <a:ext cx="971931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1F2933"/>
                  </a:solidFill>
                  <a:latin typeface="Arial"/>
                  <a:ea typeface="Microsoft YaHei"/>
                  <a:cs typeface="Arial"/>
                </a:rPr>
                <a:t>3. 项目也暴露了经典方法的边界：侧脸、小人脸和重遮挡场景仍需更强模型与更大数据。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15390" y="433959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800" b="1" dirty="0">
                  <a:solidFill>
                    <a:srgbClr val="16324F"/>
                  </a:solidFill>
                  <a:latin typeface="Arial"/>
                  <a:ea typeface="Microsoft YaHei"/>
                  <a:cs typeface="Arial"/>
                </a:rPr>
                <a:t>下一步改进方向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0152" y="4818221"/>
              <a:ext cx="782716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l"/>
              <a:r>
                <a:rPr lang="zh-CN" sz="1400" dirty="0">
                  <a:solidFill>
                    <a:srgbClr val="5B6573"/>
                  </a:solidFill>
                  <a:latin typeface="Arial"/>
                  <a:ea typeface="Microsoft YaHei"/>
                  <a:cs typeface="Arial"/>
                </a:rPr>
                <a:t>多姿态训练数据、更强特征表达，以及与现代检测方法的系统对比。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5350" y="5829300"/>
            <a:ext cx="10401300" cy="321469"/>
            <a:chOff x="895350" y="5829300"/>
            <a:chExt cx="10401300" cy="321469"/>
          </a:xfrm>
        </p:grpSpPr>
        <p:sp>
          <p:nvSpPr>
            <p:cNvPr id="17" name="Rectangle 17"/>
            <p:cNvSpPr/>
            <p:nvPr/>
          </p:nvSpPr>
          <p:spPr>
            <a:xfrm>
              <a:off x="895350" y="5829300"/>
              <a:ext cx="10401300" cy="285750"/>
            </a:xfrm>
            <a:prstGeom prst="roundRect">
              <a:avLst>
                <a:gd name="adj" fmla="val 50000"/>
              </a:avLst>
            </a:prstGeom>
            <a:solidFill>
              <a:srgbClr val="16324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919412" y="5891689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rmAutofit/>
            </a:bodyPr>
            <a:lstStyle/>
            <a:p>
              <a:pPr algn="ctr"/>
              <a:r>
                <a:rPr lang="zh-CN" sz="1275" b="1" dirty="0">
                  <a:solidFill>
                    <a:srgbClr val="F7F3EC"/>
                  </a:solidFill>
                  <a:latin typeface="Arial"/>
                  <a:ea typeface="Microsoft YaHei"/>
                  <a:cs typeface="Arial"/>
                </a:rPr>
                <a:t>感谢老师聆听，欢迎批评指正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1129296" y="6039802"/>
            <a:ext cx="220000" cy="213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/>
          <a:p>
            <a:pPr algn="r"/>
            <a:r>
              <a:rPr lang="zh-CN" sz="1050" dirty="0">
                <a:solidFill>
                  <a:srgbClr val="7B8794"/>
                </a:solidFill>
                <a:latin typeface="Arial"/>
                <a:ea typeface="Microsoft YaHei"/>
                <a:cs typeface="Arial"/>
              </a:rPr>
              <a:t>24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078" y="5162645"/>
            <a:ext cx="3320796" cy="594360"/>
          </a:xfrm>
          <a:prstGeom prst="roundRect">
            <a:avLst>
              <a:gd name="adj" fmla="val 10000"/>
            </a:avLst>
          </a:prstGeom>
          <a:solidFill>
            <a:srgbClr val="FFFDF9"/>
          </a:solidFill>
          <a:ln w="9525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0798" y="5208365"/>
            <a:ext cx="32293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</a:rPr>
              <a:t>F1 = 1.000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798" y="5555837"/>
            <a:ext cx="32293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573"/>
                </a:solidFill>
              </a:rPr>
              <a:t>LFW 测试集最终结果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5602" y="5162645"/>
            <a:ext cx="3320796" cy="594360"/>
          </a:xfrm>
          <a:prstGeom prst="roundRect">
            <a:avLst>
              <a:gd name="adj" fmla="val 10000"/>
            </a:avLst>
          </a:prstGeom>
          <a:solidFill>
            <a:srgbClr val="FFFDF9"/>
          </a:solidFill>
          <a:ln w="9525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1322" y="5208365"/>
            <a:ext cx="32293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</a:rPr>
              <a:t>v3 → v6.1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1322" y="5555837"/>
            <a:ext cx="32293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573"/>
                </a:solidFill>
              </a:rPr>
              <a:t>三阶段迭代优化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6126" y="5162645"/>
            <a:ext cx="3320796" cy="594360"/>
          </a:xfrm>
          <a:prstGeom prst="roundRect">
            <a:avLst>
              <a:gd name="adj" fmla="val 10000"/>
            </a:avLst>
          </a:prstGeom>
          <a:solidFill>
            <a:srgbClr val="FFFDF9"/>
          </a:solidFill>
          <a:ln w="9525">
            <a:solidFill>
              <a:srgbClr val="D9D2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11846" y="5208365"/>
            <a:ext cx="32293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6324F"/>
                </a:solidFill>
              </a:rPr>
              <a:t>从零实现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11846" y="5555837"/>
            <a:ext cx="322935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B6573"/>
                </a:solidFill>
              </a:rPr>
              <a:t>纯 NumPy + OpenCV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EBEA5EC-8D5C-2749-B9EE-E258E4CD6E00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39fe1e2-fd91-44d0-8caf-b8e62ab7b96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4734</Words>
  <Application>Microsoft Macintosh PowerPoint</Application>
  <PresentationFormat>宽屏</PresentationFormat>
  <Paragraphs>427</Paragraphs>
  <Slides>24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Microsoft YaHei</vt:lpstr>
      <vt:lpstr>Arial</vt:lpstr>
      <vt:lpstr>Calibri</vt:lpstr>
      <vt:lpstr>Georgia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一鸣 蒋</cp:lastModifiedBy>
  <cp:revision>17</cp:revision>
  <dcterms:created xsi:type="dcterms:W3CDTF">2013-01-27T09:14:16Z</dcterms:created>
  <dcterms:modified xsi:type="dcterms:W3CDTF">2026-05-31T03:30:15Z</dcterms:modified>
  <cp:category/>
</cp:coreProperties>
</file>